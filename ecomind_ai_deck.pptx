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A4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F4A40"/>
          </a:solidFill>
          <a:ln/>
        </p:spPr>
      </p:sp>
      <p:sp>
        <p:nvSpPr>
          <p:cNvPr id="3" name="Shape 1"/>
          <p:cNvSpPr/>
          <p:nvPr/>
        </p:nvSpPr>
        <p:spPr>
          <a:xfrm>
            <a:off x="9692640" y="-1463040"/>
            <a:ext cx="4754880" cy="4754880"/>
          </a:xfrm>
          <a:prstGeom prst="ellipse">
            <a:avLst/>
          </a:prstGeom>
          <a:solidFill>
            <a:srgbClr val="27584B"/>
          </a:solidFill>
          <a:ln/>
        </p:spPr>
      </p:sp>
      <p:sp>
        <p:nvSpPr>
          <p:cNvPr id="4" name="Shape 2"/>
          <p:cNvSpPr/>
          <p:nvPr/>
        </p:nvSpPr>
        <p:spPr>
          <a:xfrm>
            <a:off x="-1463040" y="4937760"/>
            <a:ext cx="4023360" cy="4023360"/>
          </a:xfrm>
          <a:prstGeom prst="ellipse">
            <a:avLst/>
          </a:prstGeom>
          <a:solidFill>
            <a:srgbClr val="27584B"/>
          </a:solidFill>
          <a:ln/>
        </p:spPr>
      </p:sp>
      <p:sp>
        <p:nvSpPr>
          <p:cNvPr id="5" name="Shape 3"/>
          <p:cNvSpPr/>
          <p:nvPr/>
        </p:nvSpPr>
        <p:spPr>
          <a:xfrm>
            <a:off x="658368" y="896112"/>
            <a:ext cx="146304" cy="146304"/>
          </a:xfrm>
          <a:prstGeom prst="ellipse">
            <a:avLst/>
          </a:prstGeom>
          <a:solidFill>
            <a:srgbClr val="BE7327"/>
          </a:solidFill>
          <a:ln/>
        </p:spPr>
      </p:sp>
      <p:sp>
        <p:nvSpPr>
          <p:cNvPr id="6" name="Text 4"/>
          <p:cNvSpPr txBox="1"/>
          <p:nvPr/>
        </p:nvSpPr>
        <p:spPr>
          <a:xfrm>
            <a:off x="640080" y="2331720"/>
            <a:ext cx="9601200" cy="118872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EcoMind AI</a:t>
            </a:r>
            <a:endParaRPr lang="en-US" sz="5400" dirty="0"/>
          </a:p>
        </p:txBody>
      </p:sp>
      <p:sp>
        <p:nvSpPr>
          <p:cNvPr id="7" name="Text 5"/>
          <p:cNvSpPr txBox="1"/>
          <p:nvPr/>
        </p:nvSpPr>
        <p:spPr>
          <a:xfrm>
            <a:off x="658368" y="3246120"/>
            <a:ext cx="8686800" cy="502920"/>
          </a:xfrm>
          <a:prstGeom prst="rect">
            <a:avLst/>
          </a:prstGeom>
          <a:noFill/>
          <a:ln/>
        </p:spPr>
        <p:txBody>
          <a:bodyPr wrap="square" lIns="0" tIns="0" rIns="0" bIns="0" rtlCol="0" anchor="ctr"/>
          <a:lstStyle/>
          <a:p>
            <a:pPr indent="0" marL="0">
              <a:buNone/>
            </a:pPr>
            <a:r>
              <a:rPr lang="en-US" sz="1900" dirty="0">
                <a:solidFill>
                  <a:srgbClr val="CFE0D5"/>
                </a:solidFill>
                <a:latin typeface="Calibri" pitchFamily="34" charset="0"/>
                <a:ea typeface="Calibri" pitchFamily="34" charset="-122"/>
                <a:cs typeface="Calibri" pitchFamily="34" charset="-120"/>
              </a:rPr>
              <a:t>A retrieval-augmented sustainability assistant</a:t>
            </a:r>
            <a:endParaRPr lang="en-US" sz="1900" dirty="0"/>
          </a:p>
        </p:txBody>
      </p:sp>
      <p:sp>
        <p:nvSpPr>
          <p:cNvPr id="8" name="Text 6"/>
          <p:cNvSpPr txBox="1"/>
          <p:nvPr/>
        </p:nvSpPr>
        <p:spPr>
          <a:xfrm>
            <a:off x="658368" y="5349240"/>
            <a:ext cx="7315200" cy="594360"/>
          </a:xfrm>
          <a:prstGeom prst="rect">
            <a:avLst/>
          </a:prstGeom>
          <a:noFill/>
          <a:ln/>
        </p:spPr>
        <p:txBody>
          <a:bodyPr wrap="square" lIns="0" tIns="0" rIns="0" bIns="0" rtlCol="0" anchor="ctr"/>
          <a:lstStyle/>
          <a:p>
            <a:pPr indent="0" marL="0">
              <a:lnSpc>
                <a:spcPct val="130000"/>
              </a:lnSpc>
              <a:buNone/>
            </a:pPr>
            <a:r>
              <a:rPr lang="en-US" sz="1250" b="1" dirty="0">
                <a:solidFill>
                  <a:srgbClr val="9CB3A5"/>
                </a:solidFill>
                <a:latin typeface="Calibri" pitchFamily="34" charset="0"/>
                <a:ea typeface="Calibri" pitchFamily="34" charset="-122"/>
                <a:cs typeface="Calibri" pitchFamily="34" charset="-120"/>
              </a:rPr>
              <a:t>1M1B AI for Sustainability Virtual Internship</a:t>
            </a:r>
            <a:endParaRPr lang="en-US" sz="1250" dirty="0"/>
          </a:p>
          <a:p>
            <a:pPr indent="0" marL="0">
              <a:lnSpc>
                <a:spcPct val="130000"/>
              </a:lnSpc>
              <a:buNone/>
            </a:pPr>
            <a:r>
              <a:rPr lang="en-US" sz="1250" dirty="0">
                <a:solidFill>
                  <a:srgbClr val="9CB3A5"/>
                </a:solidFill>
                <a:latin typeface="Calibri" pitchFamily="34" charset="0"/>
                <a:ea typeface="Calibri" pitchFamily="34" charset="-122"/>
                <a:cs typeface="Calibri" pitchFamily="34" charset="-120"/>
              </a:rPr>
              <a:t>in collaboration with IBM SkillsBuild &amp; AICTE</a:t>
            </a:r>
            <a:endParaRPr lang="en-US" sz="1250" dirty="0"/>
          </a:p>
        </p:txBody>
      </p:sp>
      <p:sp>
        <p:nvSpPr>
          <p:cNvPr id="9" name="Text 7"/>
          <p:cNvSpPr txBox="1"/>
          <p:nvPr/>
        </p:nvSpPr>
        <p:spPr>
          <a:xfrm>
            <a:off x="8595360" y="5349240"/>
            <a:ext cx="3017520" cy="594360"/>
          </a:xfrm>
          <a:prstGeom prst="rect">
            <a:avLst/>
          </a:prstGeom>
          <a:noFill/>
          <a:ln/>
        </p:spPr>
        <p:txBody>
          <a:bodyPr wrap="square" lIns="0" tIns="0" rIns="0" bIns="0" rtlCol="0" anchor="ctr"/>
          <a:lstStyle/>
          <a:p>
            <a:pPr algn="r" indent="0" marL="0">
              <a:lnSpc>
                <a:spcPct val="130000"/>
              </a:lnSpc>
              <a:buNone/>
            </a:pPr>
            <a:r>
              <a:rPr lang="en-US" sz="1350" b="1" dirty="0">
                <a:solidFill>
                  <a:srgbClr val="FFFFFF"/>
                </a:solidFill>
                <a:latin typeface="Calibri" pitchFamily="34" charset="0"/>
                <a:ea typeface="Calibri" pitchFamily="34" charset="-122"/>
                <a:cs typeface="Calibri" pitchFamily="34" charset="-120"/>
              </a:rPr>
              <a:t>Shaik Mohammed Umar</a:t>
            </a:r>
            <a:endParaRPr lang="en-US" sz="1350" dirty="0"/>
          </a:p>
          <a:p>
            <a:pPr algn="r" indent="0" marL="0">
              <a:lnSpc>
                <a:spcPct val="130000"/>
              </a:lnSpc>
              <a:buNone/>
            </a:pPr>
            <a:r>
              <a:rPr lang="en-US" sz="1250" dirty="0">
                <a:solidFill>
                  <a:srgbClr val="9CB3A5"/>
                </a:solidFill>
                <a:latin typeface="Calibri" pitchFamily="34" charset="0"/>
                <a:ea typeface="Calibri" pitchFamily="34" charset="-122"/>
                <a:cs typeface="Calibri" pitchFamily="34" charset="-120"/>
              </a:rPr>
              <a:t>Narayana Engineering College, Gudur</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5"/>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50" b="1" dirty="0">
                <a:solidFill>
                  <a:srgbClr val="2F6B5E"/>
                </a:solidFill>
                <a:latin typeface="Calibri" pitchFamily="34" charset="0"/>
                <a:ea typeface="Calibri" pitchFamily="34" charset="-122"/>
                <a:cs typeface="Calibri" pitchFamily="34" charset="-120"/>
              </a:rPr>
              <a:t>SDG ALIGNMENT</a:t>
            </a:r>
            <a:endParaRPr lang="en-US" sz="1250" dirty="0"/>
          </a:p>
        </p:txBody>
      </p:sp>
      <p:sp>
        <p:nvSpPr>
          <p:cNvPr id="3" name="Text 1"/>
          <p:cNvSpPr txBox="1"/>
          <p:nvPr/>
        </p:nvSpPr>
        <p:spPr>
          <a:xfrm>
            <a:off x="640080" y="868680"/>
            <a:ext cx="10698480" cy="822960"/>
          </a:xfrm>
          <a:prstGeom prst="rect">
            <a:avLst/>
          </a:prstGeom>
          <a:noFill/>
          <a:ln/>
        </p:spPr>
        <p:txBody>
          <a:bodyPr wrap="square" lIns="0" tIns="0" rIns="0" bIns="0" rtlCol="0" anchor="ctr"/>
          <a:lstStyle/>
          <a:p>
            <a:pPr indent="0" marL="0">
              <a:buNone/>
            </a:pPr>
            <a:r>
              <a:rPr lang="en-US" sz="2700" b="1" dirty="0">
                <a:solidFill>
                  <a:srgbClr val="192B20"/>
                </a:solidFill>
                <a:latin typeface="Georgia" pitchFamily="34" charset="0"/>
                <a:ea typeface="Georgia" pitchFamily="34" charset="-122"/>
                <a:cs typeface="Georgia" pitchFamily="34" charset="-120"/>
              </a:rPr>
              <a:t>Anchored in climate action, with energy and consumption as supporting goals</a:t>
            </a:r>
            <a:endParaRPr lang="en-US" sz="2700" dirty="0"/>
          </a:p>
        </p:txBody>
      </p:sp>
      <p:sp>
        <p:nvSpPr>
          <p:cNvPr id="4" name="Shape 2"/>
          <p:cNvSpPr/>
          <p:nvPr/>
        </p:nvSpPr>
        <p:spPr>
          <a:xfrm>
            <a:off x="640080" y="1965960"/>
            <a:ext cx="3429000" cy="3931920"/>
          </a:xfrm>
          <a:prstGeom prst="roundRect">
            <a:avLst>
              <a:gd name="adj" fmla="val 2133"/>
            </a:avLst>
          </a:prstGeom>
          <a:solidFill>
            <a:srgbClr val="F8F9F5"/>
          </a:solidFill>
          <a:ln w="12700">
            <a:solidFill>
              <a:srgbClr val="CBD0C1"/>
            </a:solidFill>
            <a:prstDash val="solid"/>
          </a:ln>
        </p:spPr>
      </p:sp>
      <p:sp>
        <p:nvSpPr>
          <p:cNvPr id="5" name="Text 3"/>
          <p:cNvSpPr txBox="1"/>
          <p:nvPr/>
        </p:nvSpPr>
        <p:spPr>
          <a:xfrm>
            <a:off x="914400" y="2240280"/>
            <a:ext cx="1828800" cy="822960"/>
          </a:xfrm>
          <a:prstGeom prst="rect">
            <a:avLst/>
          </a:prstGeom>
          <a:noFill/>
          <a:ln/>
        </p:spPr>
        <p:txBody>
          <a:bodyPr wrap="square" lIns="0" tIns="0" rIns="0" bIns="0" rtlCol="0" anchor="ctr"/>
          <a:lstStyle/>
          <a:p>
            <a:pPr indent="0" marL="0">
              <a:buNone/>
            </a:pPr>
            <a:r>
              <a:rPr lang="en-US" sz="4000" b="1" dirty="0">
                <a:solidFill>
                  <a:srgbClr val="1F4A40"/>
                </a:solidFill>
                <a:latin typeface="Georgia" pitchFamily="34" charset="0"/>
                <a:ea typeface="Georgia" pitchFamily="34" charset="-122"/>
                <a:cs typeface="Georgia" pitchFamily="34" charset="-120"/>
              </a:rPr>
              <a:t>13</a:t>
            </a:r>
            <a:endParaRPr lang="en-US" sz="4000" dirty="0"/>
          </a:p>
        </p:txBody>
      </p:sp>
      <p:sp>
        <p:nvSpPr>
          <p:cNvPr id="6" name="Text 4"/>
          <p:cNvSpPr txBox="1"/>
          <p:nvPr/>
        </p:nvSpPr>
        <p:spPr>
          <a:xfrm>
            <a:off x="914400" y="3063240"/>
            <a:ext cx="2880360" cy="640080"/>
          </a:xfrm>
          <a:prstGeom prst="rect">
            <a:avLst/>
          </a:prstGeom>
          <a:noFill/>
          <a:ln/>
        </p:spPr>
        <p:txBody>
          <a:bodyPr wrap="square" lIns="0" tIns="0" rIns="0" bIns="0" rtlCol="0" anchor="ctr"/>
          <a:lstStyle/>
          <a:p>
            <a:pPr indent="0" marL="0">
              <a:buNone/>
            </a:pPr>
            <a:r>
              <a:rPr lang="en-US" sz="1600" b="1" dirty="0">
                <a:solidFill>
                  <a:srgbClr val="192B20"/>
                </a:solidFill>
                <a:latin typeface="Calibri" pitchFamily="34" charset="0"/>
                <a:ea typeface="Calibri" pitchFamily="34" charset="-122"/>
                <a:cs typeface="Calibri" pitchFamily="34" charset="-120"/>
              </a:rPr>
              <a:t>Climate Action</a:t>
            </a:r>
            <a:endParaRPr lang="en-US" sz="1600" dirty="0"/>
          </a:p>
        </p:txBody>
      </p:sp>
      <p:sp>
        <p:nvSpPr>
          <p:cNvPr id="7" name="Text 5"/>
          <p:cNvSpPr txBox="1"/>
          <p:nvPr/>
        </p:nvSpPr>
        <p:spPr>
          <a:xfrm>
            <a:off x="914400" y="3703320"/>
            <a:ext cx="2880360" cy="2011680"/>
          </a:xfrm>
          <a:prstGeom prst="rect">
            <a:avLst/>
          </a:prstGeom>
          <a:noFill/>
          <a:ln/>
        </p:spPr>
        <p:txBody>
          <a:bodyPr wrap="square" lIns="0" tIns="0" rIns="0" bIns="0" rtlCol="0" anchor="ctr"/>
          <a:lstStyle/>
          <a:p>
            <a:pPr indent="0" marL="0">
              <a:lnSpc>
                <a:spcPct val="125000"/>
              </a:lnSpc>
              <a:buNone/>
            </a:pPr>
            <a:r>
              <a:rPr lang="en-US" sz="1250" dirty="0">
                <a:solidFill>
                  <a:srgbClr val="4B5A4F"/>
                </a:solidFill>
                <a:latin typeface="Calibri" pitchFamily="34" charset="0"/>
                <a:ea typeface="Calibri" pitchFamily="34" charset="-122"/>
                <a:cs typeface="Calibri" pitchFamily="34" charset="-120"/>
              </a:rPr>
              <a:t>Primary goal. The assistant and footprint estimator both push users toward concrete, personal emissions reduction.</a:t>
            </a:r>
            <a:endParaRPr lang="en-US" sz="1250" dirty="0"/>
          </a:p>
        </p:txBody>
      </p:sp>
      <p:sp>
        <p:nvSpPr>
          <p:cNvPr id="8" name="Shape 6"/>
          <p:cNvSpPr/>
          <p:nvPr/>
        </p:nvSpPr>
        <p:spPr>
          <a:xfrm>
            <a:off x="4343400" y="1965960"/>
            <a:ext cx="3429000" cy="3931920"/>
          </a:xfrm>
          <a:prstGeom prst="roundRect">
            <a:avLst>
              <a:gd name="adj" fmla="val 2133"/>
            </a:avLst>
          </a:prstGeom>
          <a:solidFill>
            <a:srgbClr val="F8F9F5"/>
          </a:solidFill>
          <a:ln w="12700">
            <a:solidFill>
              <a:srgbClr val="CBD0C1"/>
            </a:solidFill>
            <a:prstDash val="solid"/>
          </a:ln>
        </p:spPr>
      </p:sp>
      <p:sp>
        <p:nvSpPr>
          <p:cNvPr id="9" name="Text 7"/>
          <p:cNvSpPr txBox="1"/>
          <p:nvPr/>
        </p:nvSpPr>
        <p:spPr>
          <a:xfrm>
            <a:off x="4617720" y="2240280"/>
            <a:ext cx="1828800" cy="822960"/>
          </a:xfrm>
          <a:prstGeom prst="rect">
            <a:avLst/>
          </a:prstGeom>
          <a:noFill/>
          <a:ln/>
        </p:spPr>
        <p:txBody>
          <a:bodyPr wrap="square" lIns="0" tIns="0" rIns="0" bIns="0" rtlCol="0" anchor="ctr"/>
          <a:lstStyle/>
          <a:p>
            <a:pPr indent="0" marL="0">
              <a:buNone/>
            </a:pPr>
            <a:r>
              <a:rPr lang="en-US" sz="4000" b="1" dirty="0">
                <a:solidFill>
                  <a:srgbClr val="2F6B5E"/>
                </a:solidFill>
                <a:latin typeface="Georgia" pitchFamily="34" charset="0"/>
                <a:ea typeface="Georgia" pitchFamily="34" charset="-122"/>
                <a:cs typeface="Georgia" pitchFamily="34" charset="-120"/>
              </a:rPr>
              <a:t>7</a:t>
            </a:r>
            <a:endParaRPr lang="en-US" sz="4000" dirty="0"/>
          </a:p>
        </p:txBody>
      </p:sp>
      <p:sp>
        <p:nvSpPr>
          <p:cNvPr id="10" name="Text 8"/>
          <p:cNvSpPr txBox="1"/>
          <p:nvPr/>
        </p:nvSpPr>
        <p:spPr>
          <a:xfrm>
            <a:off x="4617720" y="3063240"/>
            <a:ext cx="2880360" cy="640080"/>
          </a:xfrm>
          <a:prstGeom prst="rect">
            <a:avLst/>
          </a:prstGeom>
          <a:noFill/>
          <a:ln/>
        </p:spPr>
        <p:txBody>
          <a:bodyPr wrap="square" lIns="0" tIns="0" rIns="0" bIns="0" rtlCol="0" anchor="ctr"/>
          <a:lstStyle/>
          <a:p>
            <a:pPr indent="0" marL="0">
              <a:buNone/>
            </a:pPr>
            <a:r>
              <a:rPr lang="en-US" sz="1600" b="1" dirty="0">
                <a:solidFill>
                  <a:srgbClr val="192B20"/>
                </a:solidFill>
                <a:latin typeface="Calibri" pitchFamily="34" charset="0"/>
                <a:ea typeface="Calibri" pitchFamily="34" charset="-122"/>
                <a:cs typeface="Calibri" pitchFamily="34" charset="-120"/>
              </a:rPr>
              <a:t>Affordable &amp; Clean Energy</a:t>
            </a:r>
            <a:endParaRPr lang="en-US" sz="1600" dirty="0"/>
          </a:p>
        </p:txBody>
      </p:sp>
      <p:sp>
        <p:nvSpPr>
          <p:cNvPr id="11" name="Text 9"/>
          <p:cNvSpPr txBox="1"/>
          <p:nvPr/>
        </p:nvSpPr>
        <p:spPr>
          <a:xfrm>
            <a:off x="4617720" y="3703320"/>
            <a:ext cx="2880360" cy="2011680"/>
          </a:xfrm>
          <a:prstGeom prst="rect">
            <a:avLst/>
          </a:prstGeom>
          <a:noFill/>
          <a:ln/>
        </p:spPr>
        <p:txBody>
          <a:bodyPr wrap="square" lIns="0" tIns="0" rIns="0" bIns="0" rtlCol="0" anchor="ctr"/>
          <a:lstStyle/>
          <a:p>
            <a:pPr indent="0" marL="0">
              <a:lnSpc>
                <a:spcPct val="125000"/>
              </a:lnSpc>
              <a:buNone/>
            </a:pPr>
            <a:r>
              <a:rPr lang="en-US" sz="1250" dirty="0">
                <a:solidFill>
                  <a:srgbClr val="4B5A4F"/>
                </a:solidFill>
                <a:latin typeface="Calibri" pitchFamily="34" charset="0"/>
                <a:ea typeface="Calibri" pitchFamily="34" charset="-122"/>
                <a:cs typeface="Calibri" pitchFamily="34" charset="-120"/>
              </a:rPr>
              <a:t>A dedicated knowledge category covers home energy efficiency and renewable adoption, the largest controllable footprint share for most households.</a:t>
            </a:r>
            <a:endParaRPr lang="en-US" sz="1250" dirty="0"/>
          </a:p>
        </p:txBody>
      </p:sp>
      <p:sp>
        <p:nvSpPr>
          <p:cNvPr id="12" name="Shape 10"/>
          <p:cNvSpPr/>
          <p:nvPr/>
        </p:nvSpPr>
        <p:spPr>
          <a:xfrm>
            <a:off x="8046720" y="1965960"/>
            <a:ext cx="3429000" cy="3931920"/>
          </a:xfrm>
          <a:prstGeom prst="roundRect">
            <a:avLst>
              <a:gd name="adj" fmla="val 2133"/>
            </a:avLst>
          </a:prstGeom>
          <a:solidFill>
            <a:srgbClr val="F8F9F5"/>
          </a:solidFill>
          <a:ln w="12700">
            <a:solidFill>
              <a:srgbClr val="CBD0C1"/>
            </a:solidFill>
            <a:prstDash val="solid"/>
          </a:ln>
        </p:spPr>
      </p:sp>
      <p:sp>
        <p:nvSpPr>
          <p:cNvPr id="13" name="Text 11"/>
          <p:cNvSpPr txBox="1"/>
          <p:nvPr/>
        </p:nvSpPr>
        <p:spPr>
          <a:xfrm>
            <a:off x="8321040" y="2240280"/>
            <a:ext cx="1828800" cy="822960"/>
          </a:xfrm>
          <a:prstGeom prst="rect">
            <a:avLst/>
          </a:prstGeom>
          <a:noFill/>
          <a:ln/>
        </p:spPr>
        <p:txBody>
          <a:bodyPr wrap="square" lIns="0" tIns="0" rIns="0" bIns="0" rtlCol="0" anchor="ctr"/>
          <a:lstStyle/>
          <a:p>
            <a:pPr indent="0" marL="0">
              <a:buNone/>
            </a:pPr>
            <a:r>
              <a:rPr lang="en-US" sz="4000" b="1" dirty="0">
                <a:solidFill>
                  <a:srgbClr val="BE7327"/>
                </a:solidFill>
                <a:latin typeface="Georgia" pitchFamily="34" charset="0"/>
                <a:ea typeface="Georgia" pitchFamily="34" charset="-122"/>
                <a:cs typeface="Georgia" pitchFamily="34" charset="-120"/>
              </a:rPr>
              <a:t>12</a:t>
            </a:r>
            <a:endParaRPr lang="en-US" sz="4000" dirty="0"/>
          </a:p>
        </p:txBody>
      </p:sp>
      <p:sp>
        <p:nvSpPr>
          <p:cNvPr id="14" name="Text 12"/>
          <p:cNvSpPr txBox="1"/>
          <p:nvPr/>
        </p:nvSpPr>
        <p:spPr>
          <a:xfrm>
            <a:off x="8321040" y="3063240"/>
            <a:ext cx="2880360" cy="640080"/>
          </a:xfrm>
          <a:prstGeom prst="rect">
            <a:avLst/>
          </a:prstGeom>
          <a:noFill/>
          <a:ln/>
        </p:spPr>
        <p:txBody>
          <a:bodyPr wrap="square" lIns="0" tIns="0" rIns="0" bIns="0" rtlCol="0" anchor="ctr"/>
          <a:lstStyle/>
          <a:p>
            <a:pPr indent="0" marL="0">
              <a:buNone/>
            </a:pPr>
            <a:r>
              <a:rPr lang="en-US" sz="1600" b="1" dirty="0">
                <a:solidFill>
                  <a:srgbClr val="192B20"/>
                </a:solidFill>
                <a:latin typeface="Calibri" pitchFamily="34" charset="0"/>
                <a:ea typeface="Calibri" pitchFamily="34" charset="-122"/>
                <a:cs typeface="Calibri" pitchFamily="34" charset="-120"/>
              </a:rPr>
              <a:t>Responsible Consumption</a:t>
            </a:r>
            <a:endParaRPr lang="en-US" sz="1600" dirty="0"/>
          </a:p>
        </p:txBody>
      </p:sp>
      <p:sp>
        <p:nvSpPr>
          <p:cNvPr id="15" name="Text 13"/>
          <p:cNvSpPr txBox="1"/>
          <p:nvPr/>
        </p:nvSpPr>
        <p:spPr>
          <a:xfrm>
            <a:off x="8321040" y="3703320"/>
            <a:ext cx="2880360" cy="2011680"/>
          </a:xfrm>
          <a:prstGeom prst="rect">
            <a:avLst/>
          </a:prstGeom>
          <a:noFill/>
          <a:ln/>
        </p:spPr>
        <p:txBody>
          <a:bodyPr wrap="square" lIns="0" tIns="0" rIns="0" bIns="0" rtlCol="0" anchor="ctr"/>
          <a:lstStyle/>
          <a:p>
            <a:pPr indent="0" marL="0">
              <a:lnSpc>
                <a:spcPct val="125000"/>
              </a:lnSpc>
              <a:buNone/>
            </a:pPr>
            <a:r>
              <a:rPr lang="en-US" sz="1250" dirty="0">
                <a:solidFill>
                  <a:srgbClr val="4B5A4F"/>
                </a:solidFill>
                <a:latin typeface="Calibri" pitchFamily="34" charset="0"/>
                <a:ea typeface="Calibri" pitchFamily="34" charset="-122"/>
                <a:cs typeface="Calibri" pitchFamily="34" charset="-120"/>
              </a:rPr>
              <a:t>Waste, food, and transport guidance steer users toward lower-impact consumption choices in daily life.</a:t>
            </a:r>
            <a:endParaRPr lang="en-US" sz="1250" dirty="0"/>
          </a:p>
        </p:txBody>
      </p:sp>
      <p:sp>
        <p:nvSpPr>
          <p:cNvPr id="16" name="Text 14"/>
          <p:cNvSpPr txBox="1"/>
          <p:nvPr/>
        </p:nvSpPr>
        <p:spPr>
          <a:xfrm>
            <a:off x="11548872" y="6400800"/>
            <a:ext cx="457200" cy="274320"/>
          </a:xfrm>
          <a:prstGeom prst="rect">
            <a:avLst/>
          </a:prstGeom>
          <a:noFill/>
          <a:ln/>
        </p:spPr>
        <p:txBody>
          <a:bodyPr wrap="square" lIns="0" tIns="0" rIns="0" bIns="0" rtlCol="0" anchor="ctr"/>
          <a:lstStyle/>
          <a:p>
            <a:pPr algn="r" indent="0" marL="0">
              <a:buNone/>
            </a:pPr>
            <a:r>
              <a:rPr lang="en-US" sz="900" dirty="0">
                <a:solidFill>
                  <a:srgbClr val="4B5A4F"/>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5"/>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50" b="1" dirty="0">
                <a:solidFill>
                  <a:srgbClr val="2F6B5E"/>
                </a:solidFill>
                <a:latin typeface="Calibri" pitchFamily="34" charset="0"/>
                <a:ea typeface="Calibri" pitchFamily="34" charset="-122"/>
                <a:cs typeface="Calibri" pitchFamily="34" charset="-120"/>
              </a:rPr>
              <a:t>PROBLEM STATEMENT</a:t>
            </a:r>
            <a:endParaRPr lang="en-US" sz="1250" dirty="0"/>
          </a:p>
        </p:txBody>
      </p:sp>
      <p:sp>
        <p:nvSpPr>
          <p:cNvPr id="3" name="Text 1"/>
          <p:cNvSpPr txBox="1"/>
          <p:nvPr/>
        </p:nvSpPr>
        <p:spPr>
          <a:xfrm>
            <a:off x="640080" y="868680"/>
            <a:ext cx="10698480" cy="914400"/>
          </a:xfrm>
          <a:prstGeom prst="rect">
            <a:avLst/>
          </a:prstGeom>
          <a:noFill/>
          <a:ln/>
        </p:spPr>
        <p:txBody>
          <a:bodyPr wrap="square" lIns="0" tIns="0" rIns="0" bIns="0" rtlCol="0" anchor="ctr"/>
          <a:lstStyle/>
          <a:p>
            <a:pPr indent="0" marL="0">
              <a:buNone/>
            </a:pPr>
            <a:r>
              <a:rPr lang="en-US" sz="2700" b="1" dirty="0">
                <a:solidFill>
                  <a:srgbClr val="192B20"/>
                </a:solidFill>
                <a:latin typeface="Georgia" pitchFamily="34" charset="0"/>
                <a:ea typeface="Georgia" pitchFamily="34" charset="-122"/>
                <a:cs typeface="Georgia" pitchFamily="34" charset="-120"/>
              </a:rPr>
              <a:t>Sustainable advice is everywhere — and none of it is personalized or verifiable</a:t>
            </a:r>
            <a:endParaRPr lang="en-US" sz="2700" dirty="0"/>
          </a:p>
        </p:txBody>
      </p:sp>
      <p:sp>
        <p:nvSpPr>
          <p:cNvPr id="4" name="Text 2"/>
          <p:cNvSpPr txBox="1"/>
          <p:nvPr/>
        </p:nvSpPr>
        <p:spPr>
          <a:xfrm>
            <a:off x="640080" y="1965960"/>
            <a:ext cx="10881360" cy="960120"/>
          </a:xfrm>
          <a:prstGeom prst="rect">
            <a:avLst/>
          </a:prstGeom>
          <a:noFill/>
          <a:ln/>
        </p:spPr>
        <p:txBody>
          <a:bodyPr wrap="square" lIns="0" tIns="0" rIns="0" bIns="0" rtlCol="0" anchor="ctr"/>
          <a:lstStyle/>
          <a:p>
            <a:pPr indent="0" marL="0">
              <a:lnSpc>
                <a:spcPct val="130000"/>
              </a:lnSpc>
              <a:buNone/>
            </a:pPr>
            <a:r>
              <a:rPr lang="en-US" sz="1700" i="1" dirty="0">
                <a:solidFill>
                  <a:srgbClr val="1F4A40"/>
                </a:solidFill>
                <a:latin typeface="Georgia" pitchFamily="34" charset="0"/>
                <a:ea typeface="Georgia" pitchFamily="34" charset="-122"/>
                <a:cs typeface="Georgia" pitchFamily="34" charset="-120"/>
              </a:rPr>
              <a:t>How might we use AI to surface trustworthy, sourced sustainability guidance so that everyday households can act on their actual footprint rather than generic tips?</a:t>
            </a:r>
            <a:endParaRPr lang="en-US" sz="1700" dirty="0"/>
          </a:p>
        </p:txBody>
      </p:sp>
      <p:sp>
        <p:nvSpPr>
          <p:cNvPr id="5" name="Shape 3"/>
          <p:cNvSpPr/>
          <p:nvPr/>
        </p:nvSpPr>
        <p:spPr>
          <a:xfrm>
            <a:off x="685800" y="3300984"/>
            <a:ext cx="109728" cy="109728"/>
          </a:xfrm>
          <a:prstGeom prst="ellipse">
            <a:avLst/>
          </a:prstGeom>
          <a:solidFill>
            <a:srgbClr val="BE7327"/>
          </a:solidFill>
          <a:ln/>
        </p:spPr>
      </p:sp>
      <p:sp>
        <p:nvSpPr>
          <p:cNvPr id="6" name="Text 4"/>
          <p:cNvSpPr txBox="1"/>
          <p:nvPr/>
        </p:nvSpPr>
        <p:spPr>
          <a:xfrm>
            <a:off x="960120" y="3154680"/>
            <a:ext cx="2834640" cy="457200"/>
          </a:xfrm>
          <a:prstGeom prst="rect">
            <a:avLst/>
          </a:prstGeom>
          <a:noFill/>
          <a:ln/>
        </p:spPr>
        <p:txBody>
          <a:bodyPr wrap="square" lIns="0" tIns="0" rIns="0" bIns="0" rtlCol="0" anchor="ctr"/>
          <a:lstStyle/>
          <a:p>
            <a:pPr indent="0" marL="0">
              <a:buNone/>
            </a:pPr>
            <a:r>
              <a:rPr lang="en-US" sz="1450" b="1" dirty="0">
                <a:solidFill>
                  <a:srgbClr val="192B20"/>
                </a:solidFill>
                <a:latin typeface="Calibri" pitchFamily="34" charset="0"/>
                <a:ea typeface="Calibri" pitchFamily="34" charset="-122"/>
                <a:cs typeface="Calibri" pitchFamily="34" charset="-120"/>
              </a:rPr>
              <a:t>Scattered sources</a:t>
            </a:r>
            <a:endParaRPr lang="en-US" sz="1450" dirty="0"/>
          </a:p>
        </p:txBody>
      </p:sp>
      <p:sp>
        <p:nvSpPr>
          <p:cNvPr id="7" name="Text 5"/>
          <p:cNvSpPr txBox="1"/>
          <p:nvPr/>
        </p:nvSpPr>
        <p:spPr>
          <a:xfrm>
            <a:off x="3931920" y="3154680"/>
            <a:ext cx="7406640" cy="822960"/>
          </a:xfrm>
          <a:prstGeom prst="rect">
            <a:avLst/>
          </a:prstGeom>
          <a:noFill/>
          <a:ln/>
        </p:spPr>
        <p:txBody>
          <a:bodyPr wrap="square" lIns="0" tIns="0" rIns="0" bIns="0" rtlCol="0" anchor="ctr"/>
          <a:lstStyle/>
          <a:p>
            <a:pPr indent="0" marL="0">
              <a:lnSpc>
                <a:spcPct val="125000"/>
              </a:lnSpc>
              <a:buNone/>
            </a:pPr>
            <a:r>
              <a:rPr lang="en-US" sz="1300" dirty="0">
                <a:solidFill>
                  <a:srgbClr val="4B5A4F"/>
                </a:solidFill>
                <a:latin typeface="Calibri" pitchFamily="34" charset="0"/>
                <a:ea typeface="Calibri" pitchFamily="34" charset="-122"/>
                <a:cs typeface="Calibri" pitchFamily="34" charset="-120"/>
              </a:rPr>
              <a:t>Sustainability tips are spread across blogs, apps, and social media with no consistent quality bar.</a:t>
            </a:r>
            <a:endParaRPr lang="en-US" sz="1300" dirty="0"/>
          </a:p>
        </p:txBody>
      </p:sp>
      <p:sp>
        <p:nvSpPr>
          <p:cNvPr id="8" name="Shape 6"/>
          <p:cNvSpPr/>
          <p:nvPr/>
        </p:nvSpPr>
        <p:spPr>
          <a:xfrm>
            <a:off x="685800" y="4352544"/>
            <a:ext cx="109728" cy="109728"/>
          </a:xfrm>
          <a:prstGeom prst="ellipse">
            <a:avLst/>
          </a:prstGeom>
          <a:solidFill>
            <a:srgbClr val="BE7327"/>
          </a:solidFill>
          <a:ln/>
        </p:spPr>
      </p:sp>
      <p:sp>
        <p:nvSpPr>
          <p:cNvPr id="9" name="Text 7"/>
          <p:cNvSpPr txBox="1"/>
          <p:nvPr/>
        </p:nvSpPr>
        <p:spPr>
          <a:xfrm>
            <a:off x="960120" y="4206240"/>
            <a:ext cx="2834640" cy="457200"/>
          </a:xfrm>
          <a:prstGeom prst="rect">
            <a:avLst/>
          </a:prstGeom>
          <a:noFill/>
          <a:ln/>
        </p:spPr>
        <p:txBody>
          <a:bodyPr wrap="square" lIns="0" tIns="0" rIns="0" bIns="0" rtlCol="0" anchor="ctr"/>
          <a:lstStyle/>
          <a:p>
            <a:pPr indent="0" marL="0">
              <a:buNone/>
            </a:pPr>
            <a:r>
              <a:rPr lang="en-US" sz="1450" b="1" dirty="0">
                <a:solidFill>
                  <a:srgbClr val="192B20"/>
                </a:solidFill>
                <a:latin typeface="Calibri" pitchFamily="34" charset="0"/>
                <a:ea typeface="Calibri" pitchFamily="34" charset="-122"/>
                <a:cs typeface="Calibri" pitchFamily="34" charset="-120"/>
              </a:rPr>
              <a:t>No grounding</a:t>
            </a:r>
            <a:endParaRPr lang="en-US" sz="1450" dirty="0"/>
          </a:p>
        </p:txBody>
      </p:sp>
      <p:sp>
        <p:nvSpPr>
          <p:cNvPr id="10" name="Text 8"/>
          <p:cNvSpPr txBox="1"/>
          <p:nvPr/>
        </p:nvSpPr>
        <p:spPr>
          <a:xfrm>
            <a:off x="3931920" y="4206240"/>
            <a:ext cx="7406640" cy="822960"/>
          </a:xfrm>
          <a:prstGeom prst="rect">
            <a:avLst/>
          </a:prstGeom>
          <a:noFill/>
          <a:ln/>
        </p:spPr>
        <p:txBody>
          <a:bodyPr wrap="square" lIns="0" tIns="0" rIns="0" bIns="0" rtlCol="0" anchor="ctr"/>
          <a:lstStyle/>
          <a:p>
            <a:pPr indent="0" marL="0">
              <a:lnSpc>
                <a:spcPct val="125000"/>
              </a:lnSpc>
              <a:buNone/>
            </a:pPr>
            <a:r>
              <a:rPr lang="en-US" sz="1300" dirty="0">
                <a:solidFill>
                  <a:srgbClr val="4B5A4F"/>
                </a:solidFill>
                <a:latin typeface="Calibri" pitchFamily="34" charset="0"/>
                <a:ea typeface="Calibri" pitchFamily="34" charset="-122"/>
                <a:cs typeface="Calibri" pitchFamily="34" charset="-120"/>
              </a:rPr>
              <a:t>Most “eco chatbots” generate advice freely, with no way for a user to check where it came from.</a:t>
            </a:r>
            <a:endParaRPr lang="en-US" sz="1300" dirty="0"/>
          </a:p>
        </p:txBody>
      </p:sp>
      <p:sp>
        <p:nvSpPr>
          <p:cNvPr id="11" name="Shape 9"/>
          <p:cNvSpPr/>
          <p:nvPr/>
        </p:nvSpPr>
        <p:spPr>
          <a:xfrm>
            <a:off x="685800" y="5404104"/>
            <a:ext cx="109728" cy="109728"/>
          </a:xfrm>
          <a:prstGeom prst="ellipse">
            <a:avLst/>
          </a:prstGeom>
          <a:solidFill>
            <a:srgbClr val="BE7327"/>
          </a:solidFill>
          <a:ln/>
        </p:spPr>
      </p:sp>
      <p:sp>
        <p:nvSpPr>
          <p:cNvPr id="12" name="Text 10"/>
          <p:cNvSpPr txBox="1"/>
          <p:nvPr/>
        </p:nvSpPr>
        <p:spPr>
          <a:xfrm>
            <a:off x="960120" y="5257800"/>
            <a:ext cx="2834640" cy="457200"/>
          </a:xfrm>
          <a:prstGeom prst="rect">
            <a:avLst/>
          </a:prstGeom>
          <a:noFill/>
          <a:ln/>
        </p:spPr>
        <p:txBody>
          <a:bodyPr wrap="square" lIns="0" tIns="0" rIns="0" bIns="0" rtlCol="0" anchor="ctr"/>
          <a:lstStyle/>
          <a:p>
            <a:pPr indent="0" marL="0">
              <a:buNone/>
            </a:pPr>
            <a:r>
              <a:rPr lang="en-US" sz="1450" b="1" dirty="0">
                <a:solidFill>
                  <a:srgbClr val="192B20"/>
                </a:solidFill>
                <a:latin typeface="Calibri" pitchFamily="34" charset="0"/>
                <a:ea typeface="Calibri" pitchFamily="34" charset="-122"/>
                <a:cs typeface="Calibri" pitchFamily="34" charset="-120"/>
              </a:rPr>
              <a:t>No personal baseline</a:t>
            </a:r>
            <a:endParaRPr lang="en-US" sz="1450" dirty="0"/>
          </a:p>
        </p:txBody>
      </p:sp>
      <p:sp>
        <p:nvSpPr>
          <p:cNvPr id="13" name="Text 11"/>
          <p:cNvSpPr txBox="1"/>
          <p:nvPr/>
        </p:nvSpPr>
        <p:spPr>
          <a:xfrm>
            <a:off x="3931920" y="5257800"/>
            <a:ext cx="7406640" cy="822960"/>
          </a:xfrm>
          <a:prstGeom prst="rect">
            <a:avLst/>
          </a:prstGeom>
          <a:noFill/>
          <a:ln/>
        </p:spPr>
        <p:txBody>
          <a:bodyPr wrap="square" lIns="0" tIns="0" rIns="0" bIns="0" rtlCol="0" anchor="ctr"/>
          <a:lstStyle/>
          <a:p>
            <a:pPr indent="0" marL="0">
              <a:lnSpc>
                <a:spcPct val="125000"/>
              </a:lnSpc>
              <a:buNone/>
            </a:pPr>
            <a:r>
              <a:rPr lang="en-US" sz="1300" dirty="0">
                <a:solidFill>
                  <a:srgbClr val="4B5A4F"/>
                </a:solidFill>
                <a:latin typeface="Calibri" pitchFamily="34" charset="0"/>
                <a:ea typeface="Calibri" pitchFamily="34" charset="-122"/>
                <a:cs typeface="Calibri" pitchFamily="34" charset="-120"/>
              </a:rPr>
              <a:t>People rarely know their own footprint breakdown, so effort often goes to low-impact changes.</a:t>
            </a:r>
            <a:endParaRPr lang="en-US" sz="1300" dirty="0"/>
          </a:p>
        </p:txBody>
      </p:sp>
      <p:sp>
        <p:nvSpPr>
          <p:cNvPr id="14" name="Text 12"/>
          <p:cNvSpPr txBox="1"/>
          <p:nvPr/>
        </p:nvSpPr>
        <p:spPr>
          <a:xfrm>
            <a:off x="11548872" y="6400800"/>
            <a:ext cx="457200" cy="274320"/>
          </a:xfrm>
          <a:prstGeom prst="rect">
            <a:avLst/>
          </a:prstGeom>
          <a:noFill/>
          <a:ln/>
        </p:spPr>
        <p:txBody>
          <a:bodyPr wrap="square" lIns="0" tIns="0" rIns="0" bIns="0" rtlCol="0" anchor="ctr"/>
          <a:lstStyle/>
          <a:p>
            <a:pPr algn="r" indent="0" marL="0">
              <a:buNone/>
            </a:pPr>
            <a:r>
              <a:rPr lang="en-US" sz="900" dirty="0">
                <a:solidFill>
                  <a:srgbClr val="4B5A4F"/>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5"/>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50" b="1" dirty="0">
                <a:solidFill>
                  <a:srgbClr val="2F6B5E"/>
                </a:solidFill>
                <a:latin typeface="Calibri" pitchFamily="34" charset="0"/>
                <a:ea typeface="Calibri" pitchFamily="34" charset="-122"/>
                <a:cs typeface="Calibri" pitchFamily="34" charset="-120"/>
              </a:rPr>
              <a:t>AI SOLUTION OVERVIEW</a:t>
            </a:r>
            <a:endParaRPr lang="en-US" sz="1250" dirty="0"/>
          </a:p>
        </p:txBody>
      </p:sp>
      <p:sp>
        <p:nvSpPr>
          <p:cNvPr id="3" name="Text 1"/>
          <p:cNvSpPr txBox="1"/>
          <p:nvPr/>
        </p:nvSpPr>
        <p:spPr>
          <a:xfrm>
            <a:off x="640080" y="868680"/>
            <a:ext cx="10698480" cy="685800"/>
          </a:xfrm>
          <a:prstGeom prst="rect">
            <a:avLst/>
          </a:prstGeom>
          <a:noFill/>
          <a:ln/>
        </p:spPr>
        <p:txBody>
          <a:bodyPr wrap="square" lIns="0" tIns="0" rIns="0" bIns="0" rtlCol="0" anchor="ctr"/>
          <a:lstStyle/>
          <a:p>
            <a:pPr indent="0" marL="0">
              <a:buNone/>
            </a:pPr>
            <a:r>
              <a:rPr lang="en-US" sz="2700" b="1" dirty="0">
                <a:solidFill>
                  <a:srgbClr val="192B20"/>
                </a:solidFill>
                <a:latin typeface="Georgia" pitchFamily="34" charset="0"/>
                <a:ea typeface="Georgia" pitchFamily="34" charset="-122"/>
                <a:cs typeface="Georgia" pitchFamily="34" charset="-120"/>
              </a:rPr>
              <a:t>A retrieval-augmented pipeline, not a black box</a:t>
            </a:r>
            <a:endParaRPr lang="en-US" sz="2700" dirty="0"/>
          </a:p>
        </p:txBody>
      </p:sp>
      <p:sp>
        <p:nvSpPr>
          <p:cNvPr id="4" name="Shape 2"/>
          <p:cNvSpPr/>
          <p:nvPr/>
        </p:nvSpPr>
        <p:spPr>
          <a:xfrm>
            <a:off x="640080" y="1965960"/>
            <a:ext cx="2514600" cy="2148840"/>
          </a:xfrm>
          <a:prstGeom prst="roundRect">
            <a:avLst>
              <a:gd name="adj" fmla="val 3404"/>
            </a:avLst>
          </a:prstGeom>
          <a:solidFill>
            <a:srgbClr val="F8F9F5"/>
          </a:solidFill>
          <a:ln w="12700">
            <a:solidFill>
              <a:srgbClr val="CBD0C1"/>
            </a:solidFill>
            <a:prstDash val="solid"/>
          </a:ln>
        </p:spPr>
      </p:sp>
      <p:sp>
        <p:nvSpPr>
          <p:cNvPr id="5" name="Text 3"/>
          <p:cNvSpPr txBox="1"/>
          <p:nvPr/>
        </p:nvSpPr>
        <p:spPr>
          <a:xfrm>
            <a:off x="841248" y="2121408"/>
            <a:ext cx="1371600" cy="457200"/>
          </a:xfrm>
          <a:prstGeom prst="rect">
            <a:avLst/>
          </a:prstGeom>
          <a:noFill/>
          <a:ln/>
        </p:spPr>
        <p:txBody>
          <a:bodyPr wrap="square" lIns="0" tIns="0" rIns="0" bIns="0" rtlCol="0" anchor="ctr"/>
          <a:lstStyle/>
          <a:p>
            <a:pPr indent="0" marL="0">
              <a:buNone/>
            </a:pPr>
            <a:r>
              <a:rPr lang="en-US" sz="2000" b="1" dirty="0">
                <a:solidFill>
                  <a:srgbClr val="BE7327"/>
                </a:solidFill>
                <a:latin typeface="Georgia" pitchFamily="34" charset="0"/>
                <a:ea typeface="Georgia" pitchFamily="34" charset="-122"/>
                <a:cs typeface="Georgia" pitchFamily="34" charset="-120"/>
              </a:rPr>
              <a:t>01</a:t>
            </a:r>
            <a:endParaRPr lang="en-US" sz="2000" dirty="0"/>
          </a:p>
        </p:txBody>
      </p:sp>
      <p:sp>
        <p:nvSpPr>
          <p:cNvPr id="6" name="Text 4"/>
          <p:cNvSpPr txBox="1"/>
          <p:nvPr/>
        </p:nvSpPr>
        <p:spPr>
          <a:xfrm>
            <a:off x="841248" y="2578608"/>
            <a:ext cx="2148840" cy="594360"/>
          </a:xfrm>
          <a:prstGeom prst="rect">
            <a:avLst/>
          </a:prstGeom>
          <a:noFill/>
          <a:ln/>
        </p:spPr>
        <p:txBody>
          <a:bodyPr wrap="square" lIns="0" tIns="0" rIns="0" bIns="0" rtlCol="0" anchor="ctr"/>
          <a:lstStyle/>
          <a:p>
            <a:pPr indent="0" marL="0">
              <a:lnSpc>
                <a:spcPct val="110000"/>
              </a:lnSpc>
              <a:buNone/>
            </a:pPr>
            <a:r>
              <a:rPr lang="en-US" sz="1250" b="1" dirty="0">
                <a:solidFill>
                  <a:srgbClr val="192B20"/>
                </a:solidFill>
                <a:latin typeface="Calibri" pitchFamily="34" charset="0"/>
                <a:ea typeface="Calibri" pitchFamily="34" charset="-122"/>
                <a:cs typeface="Calibri" pitchFamily="34" charset="-120"/>
              </a:rPr>
              <a:t>Curated knowledge base</a:t>
            </a:r>
            <a:endParaRPr lang="en-US" sz="1250" dirty="0"/>
          </a:p>
        </p:txBody>
      </p:sp>
      <p:sp>
        <p:nvSpPr>
          <p:cNvPr id="7" name="Text 5"/>
          <p:cNvSpPr txBox="1"/>
          <p:nvPr/>
        </p:nvSpPr>
        <p:spPr>
          <a:xfrm>
            <a:off x="841248" y="3200400"/>
            <a:ext cx="2148840" cy="868680"/>
          </a:xfrm>
          <a:prstGeom prst="rect">
            <a:avLst/>
          </a:prstGeom>
          <a:noFill/>
          <a:ln/>
        </p:spPr>
        <p:txBody>
          <a:bodyPr wrap="square" lIns="0" tIns="0" rIns="0" bIns="0" rtlCol="0" anchor="ctr"/>
          <a:lstStyle/>
          <a:p>
            <a:pPr indent="0" marL="0">
              <a:lnSpc>
                <a:spcPct val="120000"/>
              </a:lnSpc>
              <a:buNone/>
            </a:pPr>
            <a:r>
              <a:rPr lang="en-US" sz="1050" dirty="0">
                <a:solidFill>
                  <a:srgbClr val="4B5A4F"/>
                </a:solidFill>
                <a:latin typeface="Calibri" pitchFamily="34" charset="0"/>
                <a:ea typeface="Calibri" pitchFamily="34" charset="-122"/>
                <a:cs typeface="Calibri" pitchFamily="34" charset="-120"/>
              </a:rPr>
              <a:t>48 entries across 8 sustainability categories, written and reviewed by hand.</a:t>
            </a:r>
            <a:endParaRPr lang="en-US" sz="1050" dirty="0"/>
          </a:p>
        </p:txBody>
      </p:sp>
      <p:sp>
        <p:nvSpPr>
          <p:cNvPr id="8" name="Text 6"/>
          <p:cNvSpPr txBox="1"/>
          <p:nvPr/>
        </p:nvSpPr>
        <p:spPr>
          <a:xfrm>
            <a:off x="3182112" y="2743200"/>
            <a:ext cx="256032" cy="457200"/>
          </a:xfrm>
          <a:prstGeom prst="rect">
            <a:avLst/>
          </a:prstGeom>
          <a:noFill/>
          <a:ln/>
        </p:spPr>
        <p:txBody>
          <a:bodyPr wrap="square" lIns="0" tIns="0" rIns="0" bIns="0" rtlCol="0" anchor="ctr"/>
          <a:lstStyle/>
          <a:p>
            <a:pPr algn="ctr" indent="0" marL="0">
              <a:buNone/>
            </a:pPr>
            <a:r>
              <a:rPr lang="en-US" sz="1800" dirty="0">
                <a:solidFill>
                  <a:srgbClr val="2F6B5E"/>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3383280" y="1965960"/>
            <a:ext cx="2514600" cy="2148840"/>
          </a:xfrm>
          <a:prstGeom prst="roundRect">
            <a:avLst>
              <a:gd name="adj" fmla="val 3404"/>
            </a:avLst>
          </a:prstGeom>
          <a:solidFill>
            <a:srgbClr val="F8F9F5"/>
          </a:solidFill>
          <a:ln w="12700">
            <a:solidFill>
              <a:srgbClr val="CBD0C1"/>
            </a:solidFill>
            <a:prstDash val="solid"/>
          </a:ln>
        </p:spPr>
      </p:sp>
      <p:sp>
        <p:nvSpPr>
          <p:cNvPr id="10" name="Text 8"/>
          <p:cNvSpPr txBox="1"/>
          <p:nvPr/>
        </p:nvSpPr>
        <p:spPr>
          <a:xfrm>
            <a:off x="3584448" y="2121408"/>
            <a:ext cx="1371600" cy="457200"/>
          </a:xfrm>
          <a:prstGeom prst="rect">
            <a:avLst/>
          </a:prstGeom>
          <a:noFill/>
          <a:ln/>
        </p:spPr>
        <p:txBody>
          <a:bodyPr wrap="square" lIns="0" tIns="0" rIns="0" bIns="0" rtlCol="0" anchor="ctr"/>
          <a:lstStyle/>
          <a:p>
            <a:pPr indent="0" marL="0">
              <a:buNone/>
            </a:pPr>
            <a:r>
              <a:rPr lang="en-US" sz="2000" b="1" dirty="0">
                <a:solidFill>
                  <a:srgbClr val="BE7327"/>
                </a:solidFill>
                <a:latin typeface="Georgia" pitchFamily="34" charset="0"/>
                <a:ea typeface="Georgia" pitchFamily="34" charset="-122"/>
                <a:cs typeface="Georgia" pitchFamily="34" charset="-120"/>
              </a:rPr>
              <a:t>02</a:t>
            </a:r>
            <a:endParaRPr lang="en-US" sz="2000" dirty="0"/>
          </a:p>
        </p:txBody>
      </p:sp>
      <p:sp>
        <p:nvSpPr>
          <p:cNvPr id="11" name="Text 9"/>
          <p:cNvSpPr txBox="1"/>
          <p:nvPr/>
        </p:nvSpPr>
        <p:spPr>
          <a:xfrm>
            <a:off x="3584448" y="2578608"/>
            <a:ext cx="2148840" cy="594360"/>
          </a:xfrm>
          <a:prstGeom prst="rect">
            <a:avLst/>
          </a:prstGeom>
          <a:noFill/>
          <a:ln/>
        </p:spPr>
        <p:txBody>
          <a:bodyPr wrap="square" lIns="0" tIns="0" rIns="0" bIns="0" rtlCol="0" anchor="ctr"/>
          <a:lstStyle/>
          <a:p>
            <a:pPr indent="0" marL="0">
              <a:lnSpc>
                <a:spcPct val="110000"/>
              </a:lnSpc>
              <a:buNone/>
            </a:pPr>
            <a:r>
              <a:rPr lang="en-US" sz="1250" b="1" dirty="0">
                <a:solidFill>
                  <a:srgbClr val="192B20"/>
                </a:solidFill>
                <a:latin typeface="Calibri" pitchFamily="34" charset="0"/>
                <a:ea typeface="Calibri" pitchFamily="34" charset="-122"/>
                <a:cs typeface="Calibri" pitchFamily="34" charset="-120"/>
              </a:rPr>
              <a:t>TF-IDF retrieval</a:t>
            </a:r>
            <a:endParaRPr lang="en-US" sz="1250" dirty="0"/>
          </a:p>
        </p:txBody>
      </p:sp>
      <p:sp>
        <p:nvSpPr>
          <p:cNvPr id="12" name="Text 10"/>
          <p:cNvSpPr txBox="1"/>
          <p:nvPr/>
        </p:nvSpPr>
        <p:spPr>
          <a:xfrm>
            <a:off x="3584448" y="3200400"/>
            <a:ext cx="2148840" cy="868680"/>
          </a:xfrm>
          <a:prstGeom prst="rect">
            <a:avLst/>
          </a:prstGeom>
          <a:noFill/>
          <a:ln/>
        </p:spPr>
        <p:txBody>
          <a:bodyPr wrap="square" lIns="0" tIns="0" rIns="0" bIns="0" rtlCol="0" anchor="ctr"/>
          <a:lstStyle/>
          <a:p>
            <a:pPr indent="0" marL="0">
              <a:lnSpc>
                <a:spcPct val="120000"/>
              </a:lnSpc>
              <a:buNone/>
            </a:pPr>
            <a:r>
              <a:rPr lang="en-US" sz="1050" dirty="0">
                <a:solidFill>
                  <a:srgbClr val="4B5A4F"/>
                </a:solidFill>
                <a:latin typeface="Calibri" pitchFamily="34" charset="0"/>
                <a:ea typeface="Calibri" pitchFamily="34" charset="-122"/>
                <a:cs typeface="Calibri" pitchFamily="34" charset="-120"/>
              </a:rPr>
              <a:t>Query and entries are vectorized; top matches are ranked by cosine similarity.</a:t>
            </a:r>
            <a:endParaRPr lang="en-US" sz="1050" dirty="0"/>
          </a:p>
        </p:txBody>
      </p:sp>
      <p:sp>
        <p:nvSpPr>
          <p:cNvPr id="13" name="Text 11"/>
          <p:cNvSpPr txBox="1"/>
          <p:nvPr/>
        </p:nvSpPr>
        <p:spPr>
          <a:xfrm>
            <a:off x="5925312" y="2743200"/>
            <a:ext cx="256032" cy="457200"/>
          </a:xfrm>
          <a:prstGeom prst="rect">
            <a:avLst/>
          </a:prstGeom>
          <a:noFill/>
          <a:ln/>
        </p:spPr>
        <p:txBody>
          <a:bodyPr wrap="square" lIns="0" tIns="0" rIns="0" bIns="0" rtlCol="0" anchor="ctr"/>
          <a:lstStyle/>
          <a:p>
            <a:pPr algn="ctr" indent="0" marL="0">
              <a:buNone/>
            </a:pPr>
            <a:r>
              <a:rPr lang="en-US" sz="1800" dirty="0">
                <a:solidFill>
                  <a:srgbClr val="2F6B5E"/>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6126480" y="1965960"/>
            <a:ext cx="2514600" cy="2148840"/>
          </a:xfrm>
          <a:prstGeom prst="roundRect">
            <a:avLst>
              <a:gd name="adj" fmla="val 3404"/>
            </a:avLst>
          </a:prstGeom>
          <a:solidFill>
            <a:srgbClr val="F8F9F5"/>
          </a:solidFill>
          <a:ln w="12700">
            <a:solidFill>
              <a:srgbClr val="CBD0C1"/>
            </a:solidFill>
            <a:prstDash val="solid"/>
          </a:ln>
        </p:spPr>
      </p:sp>
      <p:sp>
        <p:nvSpPr>
          <p:cNvPr id="15" name="Text 13"/>
          <p:cNvSpPr txBox="1"/>
          <p:nvPr/>
        </p:nvSpPr>
        <p:spPr>
          <a:xfrm>
            <a:off x="6327648" y="2121408"/>
            <a:ext cx="1371600" cy="457200"/>
          </a:xfrm>
          <a:prstGeom prst="rect">
            <a:avLst/>
          </a:prstGeom>
          <a:noFill/>
          <a:ln/>
        </p:spPr>
        <p:txBody>
          <a:bodyPr wrap="square" lIns="0" tIns="0" rIns="0" bIns="0" rtlCol="0" anchor="ctr"/>
          <a:lstStyle/>
          <a:p>
            <a:pPr indent="0" marL="0">
              <a:buNone/>
            </a:pPr>
            <a:r>
              <a:rPr lang="en-US" sz="2000" b="1" dirty="0">
                <a:solidFill>
                  <a:srgbClr val="BE7327"/>
                </a:solidFill>
                <a:latin typeface="Georgia" pitchFamily="34" charset="0"/>
                <a:ea typeface="Georgia" pitchFamily="34" charset="-122"/>
                <a:cs typeface="Georgia" pitchFamily="34" charset="-120"/>
              </a:rPr>
              <a:t>03</a:t>
            </a:r>
            <a:endParaRPr lang="en-US" sz="2000" dirty="0"/>
          </a:p>
        </p:txBody>
      </p:sp>
      <p:sp>
        <p:nvSpPr>
          <p:cNvPr id="16" name="Text 14"/>
          <p:cNvSpPr txBox="1"/>
          <p:nvPr/>
        </p:nvSpPr>
        <p:spPr>
          <a:xfrm>
            <a:off x="6327648" y="2578608"/>
            <a:ext cx="2148840" cy="594360"/>
          </a:xfrm>
          <a:prstGeom prst="rect">
            <a:avLst/>
          </a:prstGeom>
          <a:noFill/>
          <a:ln/>
        </p:spPr>
        <p:txBody>
          <a:bodyPr wrap="square" lIns="0" tIns="0" rIns="0" bIns="0" rtlCol="0" anchor="ctr"/>
          <a:lstStyle/>
          <a:p>
            <a:pPr indent="0" marL="0">
              <a:lnSpc>
                <a:spcPct val="110000"/>
              </a:lnSpc>
              <a:buNone/>
            </a:pPr>
            <a:r>
              <a:rPr lang="en-US" sz="1250" b="1" dirty="0">
                <a:solidFill>
                  <a:srgbClr val="192B20"/>
                </a:solidFill>
                <a:latin typeface="Calibri" pitchFamily="34" charset="0"/>
                <a:ea typeface="Calibri" pitchFamily="34" charset="-122"/>
                <a:cs typeface="Calibri" pitchFamily="34" charset="-120"/>
              </a:rPr>
              <a:t>Grounded composition</a:t>
            </a:r>
            <a:endParaRPr lang="en-US" sz="1250" dirty="0"/>
          </a:p>
        </p:txBody>
      </p:sp>
      <p:sp>
        <p:nvSpPr>
          <p:cNvPr id="17" name="Text 15"/>
          <p:cNvSpPr txBox="1"/>
          <p:nvPr/>
        </p:nvSpPr>
        <p:spPr>
          <a:xfrm>
            <a:off x="6327648" y="3200400"/>
            <a:ext cx="2148840" cy="868680"/>
          </a:xfrm>
          <a:prstGeom prst="rect">
            <a:avLst/>
          </a:prstGeom>
          <a:noFill/>
          <a:ln/>
        </p:spPr>
        <p:txBody>
          <a:bodyPr wrap="square" lIns="0" tIns="0" rIns="0" bIns="0" rtlCol="0" anchor="ctr"/>
          <a:lstStyle/>
          <a:p>
            <a:pPr indent="0" marL="0">
              <a:lnSpc>
                <a:spcPct val="120000"/>
              </a:lnSpc>
              <a:buNone/>
            </a:pPr>
            <a:r>
              <a:rPr lang="en-US" sz="1050" dirty="0">
                <a:solidFill>
                  <a:srgbClr val="4B5A4F"/>
                </a:solidFill>
                <a:latin typeface="Calibri" pitchFamily="34" charset="0"/>
                <a:ea typeface="Calibri" pitchFamily="34" charset="-122"/>
                <a:cs typeface="Calibri" pitchFamily="34" charset="-120"/>
              </a:rPr>
              <a:t>The top matches are woven into an answer — nothing is invented beyond the KB.</a:t>
            </a:r>
            <a:endParaRPr lang="en-US" sz="1050" dirty="0"/>
          </a:p>
        </p:txBody>
      </p:sp>
      <p:sp>
        <p:nvSpPr>
          <p:cNvPr id="18" name="Text 16"/>
          <p:cNvSpPr txBox="1"/>
          <p:nvPr/>
        </p:nvSpPr>
        <p:spPr>
          <a:xfrm>
            <a:off x="8668512" y="2743200"/>
            <a:ext cx="256032" cy="457200"/>
          </a:xfrm>
          <a:prstGeom prst="rect">
            <a:avLst/>
          </a:prstGeom>
          <a:noFill/>
          <a:ln/>
        </p:spPr>
        <p:txBody>
          <a:bodyPr wrap="square" lIns="0" tIns="0" rIns="0" bIns="0" rtlCol="0" anchor="ctr"/>
          <a:lstStyle/>
          <a:p>
            <a:pPr algn="ctr" indent="0" marL="0">
              <a:buNone/>
            </a:pPr>
            <a:r>
              <a:rPr lang="en-US" sz="1800" dirty="0">
                <a:solidFill>
                  <a:srgbClr val="2F6B5E"/>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8869680" y="1965960"/>
            <a:ext cx="2514600" cy="2148840"/>
          </a:xfrm>
          <a:prstGeom prst="roundRect">
            <a:avLst>
              <a:gd name="adj" fmla="val 3404"/>
            </a:avLst>
          </a:prstGeom>
          <a:solidFill>
            <a:srgbClr val="F8F9F5"/>
          </a:solidFill>
          <a:ln w="12700">
            <a:solidFill>
              <a:srgbClr val="CBD0C1"/>
            </a:solidFill>
            <a:prstDash val="solid"/>
          </a:ln>
        </p:spPr>
      </p:sp>
      <p:sp>
        <p:nvSpPr>
          <p:cNvPr id="20" name="Text 18"/>
          <p:cNvSpPr txBox="1"/>
          <p:nvPr/>
        </p:nvSpPr>
        <p:spPr>
          <a:xfrm>
            <a:off x="9070848" y="2121408"/>
            <a:ext cx="1371600" cy="457200"/>
          </a:xfrm>
          <a:prstGeom prst="rect">
            <a:avLst/>
          </a:prstGeom>
          <a:noFill/>
          <a:ln/>
        </p:spPr>
        <p:txBody>
          <a:bodyPr wrap="square" lIns="0" tIns="0" rIns="0" bIns="0" rtlCol="0" anchor="ctr"/>
          <a:lstStyle/>
          <a:p>
            <a:pPr indent="0" marL="0">
              <a:buNone/>
            </a:pPr>
            <a:r>
              <a:rPr lang="en-US" sz="2000" b="1" dirty="0">
                <a:solidFill>
                  <a:srgbClr val="BE7327"/>
                </a:solidFill>
                <a:latin typeface="Georgia" pitchFamily="34" charset="0"/>
                <a:ea typeface="Georgia" pitchFamily="34" charset="-122"/>
                <a:cs typeface="Georgia" pitchFamily="34" charset="-120"/>
              </a:rPr>
              <a:t>04</a:t>
            </a:r>
            <a:endParaRPr lang="en-US" sz="2000" dirty="0"/>
          </a:p>
        </p:txBody>
      </p:sp>
      <p:sp>
        <p:nvSpPr>
          <p:cNvPr id="21" name="Text 19"/>
          <p:cNvSpPr txBox="1"/>
          <p:nvPr/>
        </p:nvSpPr>
        <p:spPr>
          <a:xfrm>
            <a:off x="9070848" y="2578608"/>
            <a:ext cx="2148840" cy="594360"/>
          </a:xfrm>
          <a:prstGeom prst="rect">
            <a:avLst/>
          </a:prstGeom>
          <a:noFill/>
          <a:ln/>
        </p:spPr>
        <p:txBody>
          <a:bodyPr wrap="square" lIns="0" tIns="0" rIns="0" bIns="0" rtlCol="0" anchor="ctr"/>
          <a:lstStyle/>
          <a:p>
            <a:pPr indent="0" marL="0">
              <a:lnSpc>
                <a:spcPct val="110000"/>
              </a:lnSpc>
              <a:buNone/>
            </a:pPr>
            <a:r>
              <a:rPr lang="en-US" sz="1250" b="1" dirty="0">
                <a:solidFill>
                  <a:srgbClr val="192B20"/>
                </a:solidFill>
                <a:latin typeface="Calibri" pitchFamily="34" charset="0"/>
                <a:ea typeface="Calibri" pitchFamily="34" charset="-122"/>
                <a:cs typeface="Calibri" pitchFamily="34" charset="-120"/>
              </a:rPr>
              <a:t>Sourced response</a:t>
            </a:r>
            <a:endParaRPr lang="en-US" sz="1250" dirty="0"/>
          </a:p>
        </p:txBody>
      </p:sp>
      <p:sp>
        <p:nvSpPr>
          <p:cNvPr id="22" name="Text 20"/>
          <p:cNvSpPr txBox="1"/>
          <p:nvPr/>
        </p:nvSpPr>
        <p:spPr>
          <a:xfrm>
            <a:off x="9070848" y="3200400"/>
            <a:ext cx="2148840" cy="868680"/>
          </a:xfrm>
          <a:prstGeom prst="rect">
            <a:avLst/>
          </a:prstGeom>
          <a:noFill/>
          <a:ln/>
        </p:spPr>
        <p:txBody>
          <a:bodyPr wrap="square" lIns="0" tIns="0" rIns="0" bIns="0" rtlCol="0" anchor="ctr"/>
          <a:lstStyle/>
          <a:p>
            <a:pPr indent="0" marL="0">
              <a:lnSpc>
                <a:spcPct val="120000"/>
              </a:lnSpc>
              <a:buNone/>
            </a:pPr>
            <a:r>
              <a:rPr lang="en-US" sz="1050" dirty="0">
                <a:solidFill>
                  <a:srgbClr val="4B5A4F"/>
                </a:solidFill>
                <a:latin typeface="Calibri" pitchFamily="34" charset="0"/>
                <a:ea typeface="Calibri" pitchFamily="34" charset="-122"/>
                <a:cs typeface="Calibri" pitchFamily="34" charset="-120"/>
              </a:rPr>
              <a:t>Each answer displays which knowledge topics it drew from, for full transparency.</a:t>
            </a:r>
            <a:endParaRPr lang="en-US" sz="1050" dirty="0"/>
          </a:p>
        </p:txBody>
      </p:sp>
      <p:sp>
        <p:nvSpPr>
          <p:cNvPr id="23" name="Text 21"/>
          <p:cNvSpPr txBox="1"/>
          <p:nvPr/>
        </p:nvSpPr>
        <p:spPr>
          <a:xfrm>
            <a:off x="640080" y="4526280"/>
            <a:ext cx="10881360" cy="914400"/>
          </a:xfrm>
          <a:prstGeom prst="rect">
            <a:avLst/>
          </a:prstGeom>
          <a:noFill/>
          <a:ln/>
        </p:spPr>
        <p:txBody>
          <a:bodyPr wrap="square" lIns="0" tIns="0" rIns="0" bIns="0" rtlCol="0" anchor="ctr"/>
          <a:lstStyle/>
          <a:p>
            <a:pPr indent="0" marL="0">
              <a:lnSpc>
                <a:spcPct val="130000"/>
              </a:lnSpc>
              <a:buNone/>
            </a:pPr>
            <a:r>
              <a:rPr lang="en-US" sz="1300" b="1" dirty="0">
                <a:solidFill>
                  <a:srgbClr val="192B20"/>
                </a:solidFill>
                <a:latin typeface="Calibri" pitchFamily="34" charset="0"/>
                <a:ea typeface="Calibri" pitchFamily="34" charset="-122"/>
                <a:cs typeface="Calibri" pitchFamily="34" charset="-120"/>
              </a:rPr>
              <a:t>Plus: </a:t>
            </a:r>
            <a:pPr indent="0" marL="0">
              <a:lnSpc>
                <a:spcPct val="130000"/>
              </a:lnSpc>
              <a:buNone/>
            </a:pPr>
            <a:r>
              <a:rPr lang="en-US" sz="1300" dirty="0">
                <a:solidFill>
                  <a:srgbClr val="4B5A4F"/>
                </a:solidFill>
                <a:latin typeface="Calibri" pitchFamily="34" charset="0"/>
                <a:ea typeface="Calibri" pitchFamily="34" charset="-122"/>
                <a:cs typeface="Calibri" pitchFamily="34" charset="-120"/>
              </a:rPr>
              <a:t>a carbon footprint estimator takes a few household habit inputs, computes an annual CO2e estimate from public average emission factors, and calls the same retrieval engine to surface one targeted tip for the user's largest contributing category.</a:t>
            </a:r>
            <a:endParaRPr lang="en-US" sz="1300" dirty="0"/>
          </a:p>
        </p:txBody>
      </p:sp>
      <p:sp>
        <p:nvSpPr>
          <p:cNvPr id="24" name="Shape 22"/>
          <p:cNvSpPr/>
          <p:nvPr/>
        </p:nvSpPr>
        <p:spPr>
          <a:xfrm>
            <a:off x="640080" y="5623560"/>
            <a:ext cx="10881360" cy="640080"/>
          </a:xfrm>
          <a:prstGeom prst="roundRect">
            <a:avLst>
              <a:gd name="adj" fmla="val 11429"/>
            </a:avLst>
          </a:prstGeom>
          <a:solidFill>
            <a:srgbClr val="EFDCC0"/>
          </a:solidFill>
          <a:ln/>
        </p:spPr>
      </p:sp>
      <p:sp>
        <p:nvSpPr>
          <p:cNvPr id="25" name="Text 23"/>
          <p:cNvSpPr txBox="1"/>
          <p:nvPr/>
        </p:nvSpPr>
        <p:spPr>
          <a:xfrm>
            <a:off x="914400" y="5623560"/>
            <a:ext cx="10332720" cy="640080"/>
          </a:xfrm>
          <a:prstGeom prst="rect">
            <a:avLst/>
          </a:prstGeom>
          <a:noFill/>
          <a:ln/>
        </p:spPr>
        <p:txBody>
          <a:bodyPr wrap="square" lIns="0" tIns="0" rIns="0" bIns="0" rtlCol="0" anchor="ctr"/>
          <a:lstStyle/>
          <a:p>
            <a:pPr indent="0" marL="0">
              <a:lnSpc>
                <a:spcPct val="120000"/>
              </a:lnSpc>
              <a:buNone/>
            </a:pPr>
            <a:r>
              <a:rPr lang="en-US" sz="1200" b="1" dirty="0">
                <a:solidFill>
                  <a:srgbClr val="5C3A10"/>
                </a:solidFill>
                <a:latin typeface="Calibri" pitchFamily="34" charset="0"/>
                <a:ea typeface="Calibri" pitchFamily="34" charset="-122"/>
                <a:cs typeface="Calibri" pitchFamily="34" charset="-120"/>
              </a:rPr>
              <a:t>Shipped as two working surfaces: </a:t>
            </a:r>
            <a:pPr indent="0" marL="0">
              <a:lnSpc>
                <a:spcPct val="120000"/>
              </a:lnSpc>
              <a:buNone/>
            </a:pPr>
            <a:r>
              <a:rPr lang="en-US" sz="1200" dirty="0">
                <a:solidFill>
                  <a:srgbClr val="5C3A10"/>
                </a:solidFill>
                <a:latin typeface="Calibri" pitchFamily="34" charset="0"/>
                <a:ea typeface="Calibri" pitchFamily="34" charset="-122"/>
                <a:cs typeface="Calibri" pitchFamily="34" charset="-120"/>
              </a:rPr>
              <a:t>a self-contained browser app (ecomind_ai.html) and a Python/FastAPI backend (scikit-learn TF-IDF + cosine similarity) exposing /chat and /footprint endpoints.</a:t>
            </a:r>
            <a:endParaRPr lang="en-US" sz="1200" dirty="0"/>
          </a:p>
        </p:txBody>
      </p:sp>
      <p:sp>
        <p:nvSpPr>
          <p:cNvPr id="26" name="Text 24"/>
          <p:cNvSpPr txBox="1"/>
          <p:nvPr/>
        </p:nvSpPr>
        <p:spPr>
          <a:xfrm>
            <a:off x="11548872" y="6400800"/>
            <a:ext cx="457200" cy="274320"/>
          </a:xfrm>
          <a:prstGeom prst="rect">
            <a:avLst/>
          </a:prstGeom>
          <a:noFill/>
          <a:ln/>
        </p:spPr>
        <p:txBody>
          <a:bodyPr wrap="square" lIns="0" tIns="0" rIns="0" bIns="0" rtlCol="0" anchor="ctr"/>
          <a:lstStyle/>
          <a:p>
            <a:pPr algn="r" indent="0" marL="0">
              <a:buNone/>
            </a:pPr>
            <a:r>
              <a:rPr lang="en-US" sz="900" dirty="0">
                <a:solidFill>
                  <a:srgbClr val="4B5A4F"/>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5"/>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50" b="1" dirty="0">
                <a:solidFill>
                  <a:srgbClr val="2F6B5E"/>
                </a:solidFill>
                <a:latin typeface="Calibri" pitchFamily="34" charset="0"/>
                <a:ea typeface="Calibri" pitchFamily="34" charset="-122"/>
                <a:cs typeface="Calibri" pitchFamily="34" charset="-120"/>
              </a:rPr>
              <a:t>TARGET USERS</a:t>
            </a:r>
            <a:endParaRPr lang="en-US" sz="1250" dirty="0"/>
          </a:p>
        </p:txBody>
      </p:sp>
      <p:sp>
        <p:nvSpPr>
          <p:cNvPr id="3" name="Text 1"/>
          <p:cNvSpPr txBox="1"/>
          <p:nvPr/>
        </p:nvSpPr>
        <p:spPr>
          <a:xfrm>
            <a:off x="640080" y="868680"/>
            <a:ext cx="10698480" cy="777240"/>
          </a:xfrm>
          <a:prstGeom prst="rect">
            <a:avLst/>
          </a:prstGeom>
          <a:noFill/>
          <a:ln/>
        </p:spPr>
        <p:txBody>
          <a:bodyPr wrap="square" lIns="0" tIns="0" rIns="0" bIns="0" rtlCol="0" anchor="ctr"/>
          <a:lstStyle/>
          <a:p>
            <a:pPr indent="0" marL="0">
              <a:buNone/>
            </a:pPr>
            <a:r>
              <a:rPr lang="en-US" sz="2700" b="1" dirty="0">
                <a:solidFill>
                  <a:srgbClr val="192B20"/>
                </a:solidFill>
                <a:latin typeface="Georgia" pitchFamily="34" charset="0"/>
                <a:ea typeface="Georgia" pitchFamily="34" charset="-122"/>
                <a:cs typeface="Georgia" pitchFamily="34" charset="-120"/>
              </a:rPr>
              <a:t>Built for people who want to act, not just read about acting</a:t>
            </a:r>
            <a:endParaRPr lang="en-US" sz="2700" dirty="0"/>
          </a:p>
        </p:txBody>
      </p:sp>
      <p:sp>
        <p:nvSpPr>
          <p:cNvPr id="4" name="Shape 2"/>
          <p:cNvSpPr/>
          <p:nvPr/>
        </p:nvSpPr>
        <p:spPr>
          <a:xfrm>
            <a:off x="640080" y="2057400"/>
            <a:ext cx="3429000" cy="3566160"/>
          </a:xfrm>
          <a:prstGeom prst="roundRect">
            <a:avLst>
              <a:gd name="adj" fmla="val 2133"/>
            </a:avLst>
          </a:prstGeom>
          <a:solidFill>
            <a:srgbClr val="F8F9F5"/>
          </a:solidFill>
          <a:ln w="12700">
            <a:solidFill>
              <a:srgbClr val="CBD0C1"/>
            </a:solidFill>
            <a:prstDash val="solid"/>
          </a:ln>
        </p:spPr>
      </p:sp>
      <p:sp>
        <p:nvSpPr>
          <p:cNvPr id="5" name="Shape 3"/>
          <p:cNvSpPr/>
          <p:nvPr/>
        </p:nvSpPr>
        <p:spPr>
          <a:xfrm>
            <a:off x="914400" y="2331720"/>
            <a:ext cx="384048" cy="384048"/>
          </a:xfrm>
          <a:prstGeom prst="ellipse">
            <a:avLst/>
          </a:prstGeom>
          <a:solidFill>
            <a:srgbClr val="1F4A40"/>
          </a:solidFill>
          <a:ln/>
        </p:spPr>
      </p:sp>
      <p:sp>
        <p:nvSpPr>
          <p:cNvPr id="6" name="Text 4"/>
          <p:cNvSpPr txBox="1"/>
          <p:nvPr/>
        </p:nvSpPr>
        <p:spPr>
          <a:xfrm>
            <a:off x="914400" y="23317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914400" y="2880360"/>
            <a:ext cx="2880360" cy="594360"/>
          </a:xfrm>
          <a:prstGeom prst="rect">
            <a:avLst/>
          </a:prstGeom>
          <a:noFill/>
          <a:ln/>
        </p:spPr>
        <p:txBody>
          <a:bodyPr wrap="square" lIns="0" tIns="0" rIns="0" bIns="0" rtlCol="0" anchor="ctr"/>
          <a:lstStyle/>
          <a:p>
            <a:pPr indent="0" marL="0">
              <a:lnSpc>
                <a:spcPct val="115000"/>
              </a:lnSpc>
              <a:buNone/>
            </a:pPr>
            <a:r>
              <a:rPr lang="en-US" sz="1450" b="1" dirty="0">
                <a:solidFill>
                  <a:srgbClr val="192B20"/>
                </a:solidFill>
                <a:latin typeface="Calibri" pitchFamily="34" charset="0"/>
                <a:ea typeface="Calibri" pitchFamily="34" charset="-122"/>
                <a:cs typeface="Calibri" pitchFamily="34" charset="-120"/>
              </a:rPr>
              <a:t>Students &amp; first-time renters</a:t>
            </a:r>
            <a:endParaRPr lang="en-US" sz="1450" dirty="0"/>
          </a:p>
        </p:txBody>
      </p:sp>
      <p:sp>
        <p:nvSpPr>
          <p:cNvPr id="8" name="Text 6"/>
          <p:cNvSpPr txBox="1"/>
          <p:nvPr/>
        </p:nvSpPr>
        <p:spPr>
          <a:xfrm>
            <a:off x="914400" y="3520440"/>
            <a:ext cx="2880360" cy="1920240"/>
          </a:xfrm>
          <a:prstGeom prst="rect">
            <a:avLst/>
          </a:prstGeom>
          <a:noFill/>
          <a:ln/>
        </p:spPr>
        <p:txBody>
          <a:bodyPr wrap="square" lIns="0" tIns="0" rIns="0" bIns="0" rtlCol="0" anchor="ctr"/>
          <a:lstStyle/>
          <a:p>
            <a:pPr indent="0" marL="0">
              <a:lnSpc>
                <a:spcPct val="125000"/>
              </a:lnSpc>
              <a:buNone/>
            </a:pPr>
            <a:r>
              <a:rPr lang="en-US" sz="1200" dirty="0">
                <a:solidFill>
                  <a:srgbClr val="4B5A4F"/>
                </a:solidFill>
                <a:latin typeface="Calibri" pitchFamily="34" charset="0"/>
                <a:ea typeface="Calibri" pitchFamily="34" charset="-122"/>
                <a:cs typeface="Calibri" pitchFamily="34" charset="-120"/>
              </a:rPr>
              <a:t>Limited control over their space, but full control over daily habits — the assistant favors low-cost, no-ownership-required actions.</a:t>
            </a:r>
            <a:endParaRPr lang="en-US" sz="1200" dirty="0"/>
          </a:p>
        </p:txBody>
      </p:sp>
      <p:sp>
        <p:nvSpPr>
          <p:cNvPr id="9" name="Shape 7"/>
          <p:cNvSpPr/>
          <p:nvPr/>
        </p:nvSpPr>
        <p:spPr>
          <a:xfrm>
            <a:off x="4343400" y="2057400"/>
            <a:ext cx="3429000" cy="3566160"/>
          </a:xfrm>
          <a:prstGeom prst="roundRect">
            <a:avLst>
              <a:gd name="adj" fmla="val 2133"/>
            </a:avLst>
          </a:prstGeom>
          <a:solidFill>
            <a:srgbClr val="F8F9F5"/>
          </a:solidFill>
          <a:ln w="12700">
            <a:solidFill>
              <a:srgbClr val="CBD0C1"/>
            </a:solidFill>
            <a:prstDash val="solid"/>
          </a:ln>
        </p:spPr>
      </p:sp>
      <p:sp>
        <p:nvSpPr>
          <p:cNvPr id="10" name="Shape 8"/>
          <p:cNvSpPr/>
          <p:nvPr/>
        </p:nvSpPr>
        <p:spPr>
          <a:xfrm>
            <a:off x="4617720" y="2331720"/>
            <a:ext cx="384048" cy="384048"/>
          </a:xfrm>
          <a:prstGeom prst="ellipse">
            <a:avLst/>
          </a:prstGeom>
          <a:solidFill>
            <a:srgbClr val="1F4A40"/>
          </a:solidFill>
          <a:ln/>
        </p:spPr>
      </p:sp>
      <p:sp>
        <p:nvSpPr>
          <p:cNvPr id="11" name="Text 9"/>
          <p:cNvSpPr txBox="1"/>
          <p:nvPr/>
        </p:nvSpPr>
        <p:spPr>
          <a:xfrm>
            <a:off x="4617720" y="23317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4617720" y="2880360"/>
            <a:ext cx="2880360" cy="594360"/>
          </a:xfrm>
          <a:prstGeom prst="rect">
            <a:avLst/>
          </a:prstGeom>
          <a:noFill/>
          <a:ln/>
        </p:spPr>
        <p:txBody>
          <a:bodyPr wrap="square" lIns="0" tIns="0" rIns="0" bIns="0" rtlCol="0" anchor="ctr"/>
          <a:lstStyle/>
          <a:p>
            <a:pPr indent="0" marL="0">
              <a:lnSpc>
                <a:spcPct val="115000"/>
              </a:lnSpc>
              <a:buNone/>
            </a:pPr>
            <a:r>
              <a:rPr lang="en-US" sz="1450" b="1" dirty="0">
                <a:solidFill>
                  <a:srgbClr val="192B20"/>
                </a:solidFill>
                <a:latin typeface="Calibri" pitchFamily="34" charset="0"/>
                <a:ea typeface="Calibri" pitchFamily="34" charset="-122"/>
                <a:cs typeface="Calibri" pitchFamily="34" charset="-120"/>
              </a:rPr>
              <a:t>Households tracking a footprint</a:t>
            </a:r>
            <a:endParaRPr lang="en-US" sz="1450" dirty="0"/>
          </a:p>
        </p:txBody>
      </p:sp>
      <p:sp>
        <p:nvSpPr>
          <p:cNvPr id="13" name="Text 11"/>
          <p:cNvSpPr txBox="1"/>
          <p:nvPr/>
        </p:nvSpPr>
        <p:spPr>
          <a:xfrm>
            <a:off x="4617720" y="3520440"/>
            <a:ext cx="2880360" cy="1920240"/>
          </a:xfrm>
          <a:prstGeom prst="rect">
            <a:avLst/>
          </a:prstGeom>
          <a:noFill/>
          <a:ln/>
        </p:spPr>
        <p:txBody>
          <a:bodyPr wrap="square" lIns="0" tIns="0" rIns="0" bIns="0" rtlCol="0" anchor="ctr"/>
          <a:lstStyle/>
          <a:p>
            <a:pPr indent="0" marL="0">
              <a:lnSpc>
                <a:spcPct val="125000"/>
              </a:lnSpc>
              <a:buNone/>
            </a:pPr>
            <a:r>
              <a:rPr lang="en-US" sz="1200" dirty="0">
                <a:solidFill>
                  <a:srgbClr val="4B5A4F"/>
                </a:solidFill>
                <a:latin typeface="Calibri" pitchFamily="34" charset="0"/>
                <a:ea typeface="Calibri" pitchFamily="34" charset="-122"/>
                <a:cs typeface="Calibri" pitchFamily="34" charset="-120"/>
              </a:rPr>
              <a:t>Families who want a quick, honest estimate of where their emissions actually come from before changing anything.</a:t>
            </a:r>
            <a:endParaRPr lang="en-US" sz="1200" dirty="0"/>
          </a:p>
        </p:txBody>
      </p:sp>
      <p:sp>
        <p:nvSpPr>
          <p:cNvPr id="14" name="Shape 12"/>
          <p:cNvSpPr/>
          <p:nvPr/>
        </p:nvSpPr>
        <p:spPr>
          <a:xfrm>
            <a:off x="8046720" y="2057400"/>
            <a:ext cx="3429000" cy="3566160"/>
          </a:xfrm>
          <a:prstGeom prst="roundRect">
            <a:avLst>
              <a:gd name="adj" fmla="val 2133"/>
            </a:avLst>
          </a:prstGeom>
          <a:solidFill>
            <a:srgbClr val="F8F9F5"/>
          </a:solidFill>
          <a:ln w="12700">
            <a:solidFill>
              <a:srgbClr val="CBD0C1"/>
            </a:solidFill>
            <a:prstDash val="solid"/>
          </a:ln>
        </p:spPr>
      </p:sp>
      <p:sp>
        <p:nvSpPr>
          <p:cNvPr id="15" name="Shape 13"/>
          <p:cNvSpPr/>
          <p:nvPr/>
        </p:nvSpPr>
        <p:spPr>
          <a:xfrm>
            <a:off x="8321040" y="2331720"/>
            <a:ext cx="384048" cy="384048"/>
          </a:xfrm>
          <a:prstGeom prst="ellipse">
            <a:avLst/>
          </a:prstGeom>
          <a:solidFill>
            <a:srgbClr val="1F4A40"/>
          </a:solidFill>
          <a:ln/>
        </p:spPr>
      </p:sp>
      <p:sp>
        <p:nvSpPr>
          <p:cNvPr id="16" name="Text 14"/>
          <p:cNvSpPr txBox="1"/>
          <p:nvPr/>
        </p:nvSpPr>
        <p:spPr>
          <a:xfrm>
            <a:off x="8321040" y="23317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8321040" y="2880360"/>
            <a:ext cx="2880360" cy="594360"/>
          </a:xfrm>
          <a:prstGeom prst="rect">
            <a:avLst/>
          </a:prstGeom>
          <a:noFill/>
          <a:ln/>
        </p:spPr>
        <p:txBody>
          <a:bodyPr wrap="square" lIns="0" tIns="0" rIns="0" bIns="0" rtlCol="0" anchor="ctr"/>
          <a:lstStyle/>
          <a:p>
            <a:pPr indent="0" marL="0">
              <a:lnSpc>
                <a:spcPct val="115000"/>
              </a:lnSpc>
              <a:buNone/>
            </a:pPr>
            <a:r>
              <a:rPr lang="en-US" sz="1450" b="1" dirty="0">
                <a:solidFill>
                  <a:srgbClr val="192B20"/>
                </a:solidFill>
                <a:latin typeface="Calibri" pitchFamily="34" charset="0"/>
                <a:ea typeface="Calibri" pitchFamily="34" charset="-122"/>
                <a:cs typeface="Calibri" pitchFamily="34" charset="-120"/>
              </a:rPr>
              <a:t>Community &amp; campus groups</a:t>
            </a:r>
            <a:endParaRPr lang="en-US" sz="1450" dirty="0"/>
          </a:p>
        </p:txBody>
      </p:sp>
      <p:sp>
        <p:nvSpPr>
          <p:cNvPr id="18" name="Text 16"/>
          <p:cNvSpPr txBox="1"/>
          <p:nvPr/>
        </p:nvSpPr>
        <p:spPr>
          <a:xfrm>
            <a:off x="8321040" y="3520440"/>
            <a:ext cx="2880360" cy="1920240"/>
          </a:xfrm>
          <a:prstGeom prst="rect">
            <a:avLst/>
          </a:prstGeom>
          <a:noFill/>
          <a:ln/>
        </p:spPr>
        <p:txBody>
          <a:bodyPr wrap="square" lIns="0" tIns="0" rIns="0" bIns="0" rtlCol="0" anchor="ctr"/>
          <a:lstStyle/>
          <a:p>
            <a:pPr indent="0" marL="0">
              <a:lnSpc>
                <a:spcPct val="125000"/>
              </a:lnSpc>
              <a:buNone/>
            </a:pPr>
            <a:r>
              <a:rPr lang="en-US" sz="1200" dirty="0">
                <a:solidFill>
                  <a:srgbClr val="4B5A4F"/>
                </a:solidFill>
                <a:latin typeface="Calibri" pitchFamily="34" charset="0"/>
                <a:ea typeface="Calibri" pitchFamily="34" charset="-122"/>
                <a:cs typeface="Calibri" pitchFamily="34" charset="-120"/>
              </a:rPr>
              <a:t>Clubs and student groups (like robotics or sustainability clubs) using it as a shared reference during awareness drives.</a:t>
            </a:r>
            <a:endParaRPr lang="en-US" sz="1200" dirty="0"/>
          </a:p>
        </p:txBody>
      </p:sp>
      <p:sp>
        <p:nvSpPr>
          <p:cNvPr id="19" name="Text 17"/>
          <p:cNvSpPr txBox="1"/>
          <p:nvPr/>
        </p:nvSpPr>
        <p:spPr>
          <a:xfrm>
            <a:off x="11548872" y="6400800"/>
            <a:ext cx="457200" cy="274320"/>
          </a:xfrm>
          <a:prstGeom prst="rect">
            <a:avLst/>
          </a:prstGeom>
          <a:noFill/>
          <a:ln/>
        </p:spPr>
        <p:txBody>
          <a:bodyPr wrap="square" lIns="0" tIns="0" rIns="0" bIns="0" rtlCol="0" anchor="ctr"/>
          <a:lstStyle/>
          <a:p>
            <a:pPr algn="r" indent="0" marL="0">
              <a:buNone/>
            </a:pPr>
            <a:r>
              <a:rPr lang="en-US" sz="900" dirty="0">
                <a:solidFill>
                  <a:srgbClr val="4B5A4F"/>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4A40"/>
        </a:solidFill>
      </p:bgPr>
    </p:bg>
    <p:spTree>
      <p:nvGrpSpPr>
        <p:cNvPr id="1" name=""/>
        <p:cNvGrpSpPr/>
        <p:nvPr/>
      </p:nvGrpSpPr>
      <p:grpSpPr>
        <a:xfrm>
          <a:off x="0" y="0"/>
          <a:ext cx="0" cy="0"/>
          <a:chOff x="0" y="0"/>
          <a:chExt cx="0" cy="0"/>
        </a:xfrm>
      </p:grpSpPr>
      <p:sp>
        <p:nvSpPr>
          <p:cNvPr id="2" name="Text 0"/>
          <p:cNvSpPr txBox="1"/>
          <p:nvPr/>
        </p:nvSpPr>
        <p:spPr>
          <a:xfrm>
            <a:off x="640080" y="640080"/>
            <a:ext cx="10698480" cy="685800"/>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Responsible AI considerations</a:t>
            </a:r>
            <a:endParaRPr lang="en-US" sz="2700" dirty="0"/>
          </a:p>
        </p:txBody>
      </p:sp>
      <p:sp>
        <p:nvSpPr>
          <p:cNvPr id="3" name="Shape 1"/>
          <p:cNvSpPr/>
          <p:nvPr/>
        </p:nvSpPr>
        <p:spPr>
          <a:xfrm>
            <a:off x="640080" y="1600200"/>
            <a:ext cx="5257800" cy="2103120"/>
          </a:xfrm>
          <a:prstGeom prst="roundRect">
            <a:avLst>
              <a:gd name="adj" fmla="val 3478"/>
            </a:avLst>
          </a:prstGeom>
          <a:solidFill>
            <a:srgbClr val="27584B"/>
          </a:solidFill>
          <a:ln/>
        </p:spPr>
      </p:sp>
      <p:sp>
        <p:nvSpPr>
          <p:cNvPr id="4" name="Text 2"/>
          <p:cNvSpPr txBox="1"/>
          <p:nvPr/>
        </p:nvSpPr>
        <p:spPr>
          <a:xfrm>
            <a:off x="960120" y="1828800"/>
            <a:ext cx="4572000" cy="457200"/>
          </a:xfrm>
          <a:prstGeom prst="rect">
            <a:avLst/>
          </a:prstGeom>
          <a:noFill/>
          <a:ln/>
        </p:spPr>
        <p:txBody>
          <a:bodyPr wrap="square" lIns="0" tIns="0" rIns="0" bIns="0" rtlCol="0" anchor="ctr"/>
          <a:lstStyle/>
          <a:p>
            <a:pPr indent="0" marL="0">
              <a:buNone/>
            </a:pPr>
            <a:r>
              <a:rPr lang="en-US" sz="1550" b="1" dirty="0">
                <a:solidFill>
                  <a:srgbClr val="EFDCC0"/>
                </a:solidFill>
                <a:latin typeface="Calibri" pitchFamily="34" charset="0"/>
                <a:ea typeface="Calibri" pitchFamily="34" charset="-122"/>
                <a:cs typeface="Calibri" pitchFamily="34" charset="-120"/>
              </a:rPr>
              <a:t>Fairness</a:t>
            </a:r>
            <a:endParaRPr lang="en-US" sz="1550" dirty="0"/>
          </a:p>
        </p:txBody>
      </p:sp>
      <p:sp>
        <p:nvSpPr>
          <p:cNvPr id="5" name="Text 3"/>
          <p:cNvSpPr txBox="1"/>
          <p:nvPr/>
        </p:nvSpPr>
        <p:spPr>
          <a:xfrm>
            <a:off x="960120" y="2331720"/>
            <a:ext cx="4663440" cy="1234440"/>
          </a:xfrm>
          <a:prstGeom prst="rect">
            <a:avLst/>
          </a:prstGeom>
          <a:noFill/>
          <a:ln/>
        </p:spPr>
        <p:txBody>
          <a:bodyPr wrap="square" lIns="0" tIns="0" rIns="0" bIns="0" rtlCol="0" anchor="ctr"/>
          <a:lstStyle/>
          <a:p>
            <a:pPr indent="0" marL="0">
              <a:lnSpc>
                <a:spcPct val="130000"/>
              </a:lnSpc>
              <a:buNone/>
            </a:pPr>
            <a:r>
              <a:rPr lang="en-US" sz="1200" dirty="0">
                <a:solidFill>
                  <a:srgbClr val="D7E4DA"/>
                </a:solidFill>
                <a:latin typeface="Calibri" pitchFamily="34" charset="0"/>
                <a:ea typeface="Calibri" pitchFamily="34" charset="-122"/>
                <a:cs typeface="Calibri" pitchFamily="34" charset="-120"/>
              </a:rPr>
              <a:t>The knowledge base favors low-cost, broadly applicable actions over ones assuming home ownership or high income. Footprint factors use global averages, not one country's assumptions.</a:t>
            </a:r>
            <a:endParaRPr lang="en-US" sz="1200" dirty="0"/>
          </a:p>
        </p:txBody>
      </p:sp>
      <p:sp>
        <p:nvSpPr>
          <p:cNvPr id="6" name="Shape 4"/>
          <p:cNvSpPr/>
          <p:nvPr/>
        </p:nvSpPr>
        <p:spPr>
          <a:xfrm>
            <a:off x="6172200" y="1600200"/>
            <a:ext cx="5257800" cy="2103120"/>
          </a:xfrm>
          <a:prstGeom prst="roundRect">
            <a:avLst>
              <a:gd name="adj" fmla="val 3478"/>
            </a:avLst>
          </a:prstGeom>
          <a:solidFill>
            <a:srgbClr val="27584B"/>
          </a:solidFill>
          <a:ln/>
        </p:spPr>
      </p:sp>
      <p:sp>
        <p:nvSpPr>
          <p:cNvPr id="7" name="Text 5"/>
          <p:cNvSpPr txBox="1"/>
          <p:nvPr/>
        </p:nvSpPr>
        <p:spPr>
          <a:xfrm>
            <a:off x="6492240" y="1828800"/>
            <a:ext cx="4572000" cy="457200"/>
          </a:xfrm>
          <a:prstGeom prst="rect">
            <a:avLst/>
          </a:prstGeom>
          <a:noFill/>
          <a:ln/>
        </p:spPr>
        <p:txBody>
          <a:bodyPr wrap="square" lIns="0" tIns="0" rIns="0" bIns="0" rtlCol="0" anchor="ctr"/>
          <a:lstStyle/>
          <a:p>
            <a:pPr indent="0" marL="0">
              <a:buNone/>
            </a:pPr>
            <a:r>
              <a:rPr lang="en-US" sz="1550" b="1" dirty="0">
                <a:solidFill>
                  <a:srgbClr val="EFDCC0"/>
                </a:solidFill>
                <a:latin typeface="Calibri" pitchFamily="34" charset="0"/>
                <a:ea typeface="Calibri" pitchFamily="34" charset="-122"/>
                <a:cs typeface="Calibri" pitchFamily="34" charset="-120"/>
              </a:rPr>
              <a:t>Transparency</a:t>
            </a:r>
            <a:endParaRPr lang="en-US" sz="1550" dirty="0"/>
          </a:p>
        </p:txBody>
      </p:sp>
      <p:sp>
        <p:nvSpPr>
          <p:cNvPr id="8" name="Text 6"/>
          <p:cNvSpPr txBox="1"/>
          <p:nvPr/>
        </p:nvSpPr>
        <p:spPr>
          <a:xfrm>
            <a:off x="6492240" y="2331720"/>
            <a:ext cx="4663440" cy="1234440"/>
          </a:xfrm>
          <a:prstGeom prst="rect">
            <a:avLst/>
          </a:prstGeom>
          <a:noFill/>
          <a:ln/>
        </p:spPr>
        <p:txBody>
          <a:bodyPr wrap="square" lIns="0" tIns="0" rIns="0" bIns="0" rtlCol="0" anchor="ctr"/>
          <a:lstStyle/>
          <a:p>
            <a:pPr indent="0" marL="0">
              <a:lnSpc>
                <a:spcPct val="130000"/>
              </a:lnSpc>
              <a:buNone/>
            </a:pPr>
            <a:r>
              <a:rPr lang="en-US" sz="1200" dirty="0">
                <a:solidFill>
                  <a:srgbClr val="D7E4DA"/>
                </a:solidFill>
                <a:latin typeface="Calibri" pitchFamily="34" charset="0"/>
                <a:ea typeface="Calibri" pitchFamily="34" charset="-122"/>
                <a:cs typeface="Calibri" pitchFamily="34" charset="-120"/>
              </a:rPr>
              <a:t>Every answer lists the exact knowledge-base topics it drew from — shown as visible tags in the app — so nothing is a black box.</a:t>
            </a:r>
            <a:endParaRPr lang="en-US" sz="1200" dirty="0"/>
          </a:p>
        </p:txBody>
      </p:sp>
      <p:sp>
        <p:nvSpPr>
          <p:cNvPr id="9" name="Shape 7"/>
          <p:cNvSpPr/>
          <p:nvPr/>
        </p:nvSpPr>
        <p:spPr>
          <a:xfrm>
            <a:off x="640080" y="3931920"/>
            <a:ext cx="5257800" cy="2103120"/>
          </a:xfrm>
          <a:prstGeom prst="roundRect">
            <a:avLst>
              <a:gd name="adj" fmla="val 3478"/>
            </a:avLst>
          </a:prstGeom>
          <a:solidFill>
            <a:srgbClr val="27584B"/>
          </a:solidFill>
          <a:ln/>
        </p:spPr>
      </p:sp>
      <p:sp>
        <p:nvSpPr>
          <p:cNvPr id="10" name="Text 8"/>
          <p:cNvSpPr txBox="1"/>
          <p:nvPr/>
        </p:nvSpPr>
        <p:spPr>
          <a:xfrm>
            <a:off x="960120" y="4160520"/>
            <a:ext cx="4572000" cy="457200"/>
          </a:xfrm>
          <a:prstGeom prst="rect">
            <a:avLst/>
          </a:prstGeom>
          <a:noFill/>
          <a:ln/>
        </p:spPr>
        <p:txBody>
          <a:bodyPr wrap="square" lIns="0" tIns="0" rIns="0" bIns="0" rtlCol="0" anchor="ctr"/>
          <a:lstStyle/>
          <a:p>
            <a:pPr indent="0" marL="0">
              <a:buNone/>
            </a:pPr>
            <a:r>
              <a:rPr lang="en-US" sz="1550" b="1" dirty="0">
                <a:solidFill>
                  <a:srgbClr val="EFDCC0"/>
                </a:solidFill>
                <a:latin typeface="Calibri" pitchFamily="34" charset="0"/>
                <a:ea typeface="Calibri" pitchFamily="34" charset="-122"/>
                <a:cs typeface="Calibri" pitchFamily="34" charset="-120"/>
              </a:rPr>
              <a:t>Ethics</a:t>
            </a:r>
            <a:endParaRPr lang="en-US" sz="1550" dirty="0"/>
          </a:p>
        </p:txBody>
      </p:sp>
      <p:sp>
        <p:nvSpPr>
          <p:cNvPr id="11" name="Text 9"/>
          <p:cNvSpPr txBox="1"/>
          <p:nvPr/>
        </p:nvSpPr>
        <p:spPr>
          <a:xfrm>
            <a:off x="960120" y="4663440"/>
            <a:ext cx="4663440" cy="1234440"/>
          </a:xfrm>
          <a:prstGeom prst="rect">
            <a:avLst/>
          </a:prstGeom>
          <a:noFill/>
          <a:ln/>
        </p:spPr>
        <p:txBody>
          <a:bodyPr wrap="square" lIns="0" tIns="0" rIns="0" bIns="0" rtlCol="0" anchor="ctr"/>
          <a:lstStyle/>
          <a:p>
            <a:pPr indent="0" marL="0">
              <a:lnSpc>
                <a:spcPct val="130000"/>
              </a:lnSpc>
              <a:buNone/>
            </a:pPr>
            <a:r>
              <a:rPr lang="en-US" sz="1200" dirty="0">
                <a:solidFill>
                  <a:srgbClr val="D7E4DA"/>
                </a:solidFill>
                <a:latin typeface="Calibri" pitchFamily="34" charset="0"/>
                <a:ea typeface="Calibri" pitchFamily="34" charset="-122"/>
                <a:cs typeface="Calibri" pitchFamily="34" charset="-120"/>
              </a:rPr>
              <a:t>The assistant only composes from its curated knowledge base. It states plainly when a question falls outside its scope instead of guessing.</a:t>
            </a:r>
            <a:endParaRPr lang="en-US" sz="1200" dirty="0"/>
          </a:p>
        </p:txBody>
      </p:sp>
      <p:sp>
        <p:nvSpPr>
          <p:cNvPr id="12" name="Shape 10"/>
          <p:cNvSpPr/>
          <p:nvPr/>
        </p:nvSpPr>
        <p:spPr>
          <a:xfrm>
            <a:off x="6172200" y="3931920"/>
            <a:ext cx="5257800" cy="2103120"/>
          </a:xfrm>
          <a:prstGeom prst="roundRect">
            <a:avLst>
              <a:gd name="adj" fmla="val 3478"/>
            </a:avLst>
          </a:prstGeom>
          <a:solidFill>
            <a:srgbClr val="27584B"/>
          </a:solidFill>
          <a:ln/>
        </p:spPr>
      </p:sp>
      <p:sp>
        <p:nvSpPr>
          <p:cNvPr id="13" name="Text 11"/>
          <p:cNvSpPr txBox="1"/>
          <p:nvPr/>
        </p:nvSpPr>
        <p:spPr>
          <a:xfrm>
            <a:off x="6492240" y="4160520"/>
            <a:ext cx="4572000" cy="457200"/>
          </a:xfrm>
          <a:prstGeom prst="rect">
            <a:avLst/>
          </a:prstGeom>
          <a:noFill/>
          <a:ln/>
        </p:spPr>
        <p:txBody>
          <a:bodyPr wrap="square" lIns="0" tIns="0" rIns="0" bIns="0" rtlCol="0" anchor="ctr"/>
          <a:lstStyle/>
          <a:p>
            <a:pPr indent="0" marL="0">
              <a:buNone/>
            </a:pPr>
            <a:r>
              <a:rPr lang="en-US" sz="1550" b="1" dirty="0">
                <a:solidFill>
                  <a:srgbClr val="EFDCC0"/>
                </a:solidFill>
                <a:latin typeface="Calibri" pitchFamily="34" charset="0"/>
                <a:ea typeface="Calibri" pitchFamily="34" charset="-122"/>
                <a:cs typeface="Calibri" pitchFamily="34" charset="-120"/>
              </a:rPr>
              <a:t>Privacy</a:t>
            </a:r>
            <a:endParaRPr lang="en-US" sz="1550" dirty="0"/>
          </a:p>
        </p:txBody>
      </p:sp>
      <p:sp>
        <p:nvSpPr>
          <p:cNvPr id="14" name="Text 12"/>
          <p:cNvSpPr txBox="1"/>
          <p:nvPr/>
        </p:nvSpPr>
        <p:spPr>
          <a:xfrm>
            <a:off x="6492240" y="4663440"/>
            <a:ext cx="4663440" cy="1234440"/>
          </a:xfrm>
          <a:prstGeom prst="rect">
            <a:avLst/>
          </a:prstGeom>
          <a:noFill/>
          <a:ln/>
        </p:spPr>
        <p:txBody>
          <a:bodyPr wrap="square" lIns="0" tIns="0" rIns="0" bIns="0" rtlCol="0" anchor="ctr"/>
          <a:lstStyle/>
          <a:p>
            <a:pPr indent="0" marL="0">
              <a:lnSpc>
                <a:spcPct val="130000"/>
              </a:lnSpc>
              <a:buNone/>
            </a:pPr>
            <a:r>
              <a:rPr lang="en-US" sz="1200" dirty="0">
                <a:solidFill>
                  <a:srgbClr val="D7E4DA"/>
                </a:solidFill>
                <a:latin typeface="Calibri" pitchFamily="34" charset="0"/>
                <a:ea typeface="Calibri" pitchFamily="34" charset="-122"/>
                <a:cs typeface="Calibri" pitchFamily="34" charset="-120"/>
              </a:rPr>
              <a:t>All computation runs client-side in the browser demo; the backend logs no query or footprint input by default.</a:t>
            </a:r>
            <a:endParaRPr lang="en-US" sz="1200" dirty="0"/>
          </a:p>
        </p:txBody>
      </p:sp>
      <p:sp>
        <p:nvSpPr>
          <p:cNvPr id="15" name="Text 13"/>
          <p:cNvSpPr txBox="1"/>
          <p:nvPr/>
        </p:nvSpPr>
        <p:spPr>
          <a:xfrm>
            <a:off x="11548872" y="6400800"/>
            <a:ext cx="457200" cy="274320"/>
          </a:xfrm>
          <a:prstGeom prst="rect">
            <a:avLst/>
          </a:prstGeom>
          <a:noFill/>
          <a:ln/>
        </p:spPr>
        <p:txBody>
          <a:bodyPr wrap="square" lIns="0" tIns="0" rIns="0" bIns="0" rtlCol="0" anchor="ctr"/>
          <a:lstStyle/>
          <a:p>
            <a:pPr algn="r" indent="0" marL="0">
              <a:buNone/>
            </a:pPr>
            <a:r>
              <a:rPr lang="en-US" sz="900" dirty="0">
                <a:solidFill>
                  <a:srgbClr val="4B5A4F"/>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5"/>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50" b="1" dirty="0">
                <a:solidFill>
                  <a:srgbClr val="2F6B5E"/>
                </a:solidFill>
                <a:latin typeface="Calibri" pitchFamily="34" charset="0"/>
                <a:ea typeface="Calibri" pitchFamily="34" charset="-122"/>
                <a:cs typeface="Calibri" pitchFamily="34" charset="-120"/>
              </a:rPr>
              <a:t>PROTOTYPE &amp; DEMO</a:t>
            </a:r>
            <a:endParaRPr lang="en-US" sz="1250" dirty="0"/>
          </a:p>
        </p:txBody>
      </p:sp>
      <p:sp>
        <p:nvSpPr>
          <p:cNvPr id="3" name="Text 1"/>
          <p:cNvSpPr txBox="1"/>
          <p:nvPr/>
        </p:nvSpPr>
        <p:spPr>
          <a:xfrm>
            <a:off x="640080" y="868680"/>
            <a:ext cx="10698480" cy="685800"/>
          </a:xfrm>
          <a:prstGeom prst="rect">
            <a:avLst/>
          </a:prstGeom>
          <a:noFill/>
          <a:ln/>
        </p:spPr>
        <p:txBody>
          <a:bodyPr wrap="square" lIns="0" tIns="0" rIns="0" bIns="0" rtlCol="0" anchor="ctr"/>
          <a:lstStyle/>
          <a:p>
            <a:pPr indent="0" marL="0">
              <a:buNone/>
            </a:pPr>
            <a:r>
              <a:rPr lang="en-US" sz="2700" b="1" dirty="0">
                <a:solidFill>
                  <a:srgbClr val="192B20"/>
                </a:solidFill>
                <a:latin typeface="Georgia" pitchFamily="34" charset="0"/>
                <a:ea typeface="Georgia" pitchFamily="34" charset="-122"/>
                <a:cs typeface="Georgia" pitchFamily="34" charset="-120"/>
              </a:rPr>
              <a:t>A sample interaction end to end</a:t>
            </a:r>
            <a:endParaRPr lang="en-US" sz="2700" dirty="0"/>
          </a:p>
        </p:txBody>
      </p:sp>
      <p:sp>
        <p:nvSpPr>
          <p:cNvPr id="4" name="Shape 2"/>
          <p:cNvSpPr/>
          <p:nvPr/>
        </p:nvSpPr>
        <p:spPr>
          <a:xfrm>
            <a:off x="640080" y="1783080"/>
            <a:ext cx="5897880" cy="4434840"/>
          </a:xfrm>
          <a:prstGeom prst="roundRect">
            <a:avLst>
              <a:gd name="adj" fmla="val 2062"/>
            </a:avLst>
          </a:prstGeom>
          <a:solidFill>
            <a:srgbClr val="F8F9F5"/>
          </a:solidFill>
          <a:ln w="12700">
            <a:solidFill>
              <a:srgbClr val="CBD0C1"/>
            </a:solidFill>
            <a:prstDash val="solid"/>
          </a:ln>
        </p:spPr>
      </p:sp>
      <p:sp>
        <p:nvSpPr>
          <p:cNvPr id="5" name="Text 3"/>
          <p:cNvSpPr txBox="1"/>
          <p:nvPr/>
        </p:nvSpPr>
        <p:spPr>
          <a:xfrm>
            <a:off x="914400" y="1965960"/>
            <a:ext cx="5394960" cy="365760"/>
          </a:xfrm>
          <a:prstGeom prst="rect">
            <a:avLst/>
          </a:prstGeom>
          <a:noFill/>
          <a:ln/>
        </p:spPr>
        <p:txBody>
          <a:bodyPr wrap="square" lIns="0" tIns="0" rIns="0" bIns="0" rtlCol="0" anchor="ctr"/>
          <a:lstStyle/>
          <a:p>
            <a:pPr indent="0" marL="0">
              <a:buNone/>
            </a:pPr>
            <a:r>
              <a:rPr lang="en-US" sz="1200" b="1" dirty="0">
                <a:solidFill>
                  <a:srgbClr val="1F4A40"/>
                </a:solidFill>
                <a:latin typeface="Calibri" pitchFamily="34" charset="0"/>
                <a:ea typeface="Calibri" pitchFamily="34" charset="-122"/>
                <a:cs typeface="Calibri" pitchFamily="34" charset="-120"/>
              </a:rPr>
              <a:t>EcoMind AI — Assistant</a:t>
            </a:r>
            <a:endParaRPr lang="en-US" sz="1200" dirty="0"/>
          </a:p>
        </p:txBody>
      </p:sp>
      <p:sp>
        <p:nvSpPr>
          <p:cNvPr id="6" name="Shape 4"/>
          <p:cNvSpPr/>
          <p:nvPr/>
        </p:nvSpPr>
        <p:spPr>
          <a:xfrm>
            <a:off x="3383280" y="2468880"/>
            <a:ext cx="2880360" cy="502920"/>
          </a:xfrm>
          <a:prstGeom prst="roundRect">
            <a:avLst>
              <a:gd name="adj" fmla="val 18182"/>
            </a:avLst>
          </a:prstGeom>
          <a:solidFill>
            <a:srgbClr val="1F4A40"/>
          </a:solidFill>
          <a:ln/>
        </p:spPr>
      </p:sp>
      <p:sp>
        <p:nvSpPr>
          <p:cNvPr id="7" name="Text 5"/>
          <p:cNvSpPr txBox="1"/>
          <p:nvPr/>
        </p:nvSpPr>
        <p:spPr>
          <a:xfrm>
            <a:off x="3520440" y="2468880"/>
            <a:ext cx="2651760" cy="5029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How can I lower my energy bill?</a:t>
            </a:r>
            <a:endParaRPr lang="en-US" sz="1050" dirty="0"/>
          </a:p>
        </p:txBody>
      </p:sp>
      <p:sp>
        <p:nvSpPr>
          <p:cNvPr id="8" name="Shape 6"/>
          <p:cNvSpPr/>
          <p:nvPr/>
        </p:nvSpPr>
        <p:spPr>
          <a:xfrm>
            <a:off x="914400" y="3154680"/>
            <a:ext cx="5257800" cy="1828800"/>
          </a:xfrm>
          <a:prstGeom prst="roundRect">
            <a:avLst>
              <a:gd name="adj" fmla="val 5000"/>
            </a:avLst>
          </a:prstGeom>
          <a:solidFill>
            <a:srgbClr val="FFFFFF"/>
          </a:solidFill>
          <a:ln w="12700">
            <a:solidFill>
              <a:srgbClr val="CBD0C1"/>
            </a:solidFill>
            <a:prstDash val="solid"/>
          </a:ln>
        </p:spPr>
      </p:sp>
      <p:sp>
        <p:nvSpPr>
          <p:cNvPr id="9" name="Text 7"/>
          <p:cNvSpPr txBox="1"/>
          <p:nvPr/>
        </p:nvSpPr>
        <p:spPr>
          <a:xfrm>
            <a:off x="1097280" y="3291840"/>
            <a:ext cx="4892040" cy="1280160"/>
          </a:xfrm>
          <a:prstGeom prst="rect">
            <a:avLst/>
          </a:prstGeom>
          <a:noFill/>
          <a:ln/>
        </p:spPr>
        <p:txBody>
          <a:bodyPr wrap="square" lIns="0" tIns="0" rIns="0" bIns="0" rtlCol="0" anchor="ctr"/>
          <a:lstStyle/>
          <a:p>
            <a:pPr indent="0" marL="0">
              <a:lnSpc>
                <a:spcPct val="130000"/>
              </a:lnSpc>
              <a:buNone/>
            </a:pPr>
            <a:r>
              <a:rPr lang="en-US" sz="1050" b="1" dirty="0">
                <a:solidFill>
                  <a:srgbClr val="192B20"/>
                </a:solidFill>
                <a:latin typeface="Calibri" pitchFamily="34" charset="0"/>
                <a:ea typeface="Calibri" pitchFamily="34" charset="-122"/>
                <a:cs typeface="Calibri" pitchFamily="34" charset="-120"/>
              </a:rPr>
              <a:t>Here's what tends to make the biggest difference:</a:t>
            </a:r>
            <a:endParaRPr lang="en-US" sz="1050" dirty="0"/>
          </a:p>
          <a:p>
            <a:pPr indent="0" marL="0">
              <a:lnSpc>
                <a:spcPct val="130000"/>
              </a:lnSpc>
              <a:buNone/>
            </a:pPr>
            <a:r>
              <a:rPr lang="en-US" sz="1000" dirty="0">
                <a:solidFill>
                  <a:srgbClr val="192B20"/>
                </a:solidFill>
                <a:latin typeface="Calibri" pitchFamily="34" charset="0"/>
                <a:ea typeface="Calibri" pitchFamily="34" charset="-122"/>
                <a:cs typeface="Calibri" pitchFamily="34" charset="-120"/>
              </a:rPr>
              <a:t>• Switch to LED bulbs — up to 75% less lighting energy</a:t>
            </a:r>
            <a:endParaRPr lang="en-US" sz="1050" dirty="0"/>
          </a:p>
          <a:p>
            <a:pPr indent="0" marL="0">
              <a:lnSpc>
                <a:spcPct val="130000"/>
              </a:lnSpc>
              <a:buNone/>
            </a:pPr>
            <a:r>
              <a:rPr lang="en-US" sz="1000" dirty="0">
                <a:solidFill>
                  <a:srgbClr val="192B20"/>
                </a:solidFill>
                <a:latin typeface="Calibri" pitchFamily="34" charset="0"/>
                <a:ea typeface="Calibri" pitchFamily="34" charset="-122"/>
                <a:cs typeface="Calibri" pitchFamily="34" charset="-120"/>
              </a:rPr>
              <a:t>• Unplug idle chargers to cut phantom load</a:t>
            </a:r>
            <a:endParaRPr lang="en-US" sz="1050" dirty="0"/>
          </a:p>
          <a:p>
            <a:pPr indent="0" marL="0">
              <a:lnSpc>
                <a:spcPct val="130000"/>
              </a:lnSpc>
              <a:buNone/>
            </a:pPr>
            <a:r>
              <a:rPr lang="en-US" sz="1000" dirty="0">
                <a:solidFill>
                  <a:srgbClr val="192B20"/>
                </a:solidFill>
                <a:latin typeface="Calibri" pitchFamily="34" charset="0"/>
                <a:ea typeface="Calibri" pitchFamily="34" charset="-122"/>
                <a:cs typeface="Calibri" pitchFamily="34" charset="-120"/>
              </a:rPr>
              <a:t>• A smart thermostat trims HVAC use 10–15%</a:t>
            </a:r>
            <a:endParaRPr lang="en-US" sz="1050" dirty="0"/>
          </a:p>
        </p:txBody>
      </p:sp>
      <p:sp>
        <p:nvSpPr>
          <p:cNvPr id="10" name="Text 8"/>
          <p:cNvSpPr txBox="1"/>
          <p:nvPr/>
        </p:nvSpPr>
        <p:spPr>
          <a:xfrm>
            <a:off x="1097280" y="4617720"/>
            <a:ext cx="4892040" cy="274320"/>
          </a:xfrm>
          <a:prstGeom prst="rect">
            <a:avLst/>
          </a:prstGeom>
          <a:noFill/>
          <a:ln/>
        </p:spPr>
        <p:txBody>
          <a:bodyPr wrap="square" lIns="0" tIns="0" rIns="0" bIns="0" rtlCol="0" anchor="ctr"/>
          <a:lstStyle/>
          <a:p>
            <a:pPr indent="0" marL="0">
              <a:buNone/>
            </a:pPr>
            <a:r>
              <a:rPr lang="en-US" sz="900" dirty="0">
                <a:solidFill>
                  <a:srgbClr val="BE7327"/>
                </a:solidFill>
                <a:latin typeface="Calibri" pitchFamily="34" charset="0"/>
                <a:ea typeface="Calibri" pitchFamily="34" charset="-122"/>
                <a:cs typeface="Calibri" pitchFamily="34" charset="-120"/>
              </a:rPr>
              <a:t>Retrieved from:  Energy</a:t>
            </a:r>
            <a:endParaRPr lang="en-US" sz="900" dirty="0"/>
          </a:p>
        </p:txBody>
      </p:sp>
      <p:sp>
        <p:nvSpPr>
          <p:cNvPr id="11" name="Shape 9"/>
          <p:cNvSpPr/>
          <p:nvPr/>
        </p:nvSpPr>
        <p:spPr>
          <a:xfrm>
            <a:off x="914400" y="5166360"/>
            <a:ext cx="5257800" cy="822960"/>
          </a:xfrm>
          <a:prstGeom prst="roundRect">
            <a:avLst>
              <a:gd name="adj" fmla="val 8889"/>
            </a:avLst>
          </a:prstGeom>
          <a:solidFill>
            <a:srgbClr val="EEF1EA"/>
          </a:solidFill>
          <a:ln w="12700">
            <a:solidFill>
              <a:srgbClr val="CBD0C1"/>
            </a:solidFill>
            <a:prstDash val="solid"/>
          </a:ln>
        </p:spPr>
      </p:sp>
      <p:sp>
        <p:nvSpPr>
          <p:cNvPr id="12" name="Text 10"/>
          <p:cNvSpPr txBox="1"/>
          <p:nvPr/>
        </p:nvSpPr>
        <p:spPr>
          <a:xfrm>
            <a:off x="1097280" y="5166360"/>
            <a:ext cx="4892040" cy="822960"/>
          </a:xfrm>
          <a:prstGeom prst="rect">
            <a:avLst/>
          </a:prstGeom>
          <a:noFill/>
          <a:ln/>
        </p:spPr>
        <p:txBody>
          <a:bodyPr wrap="square" lIns="0" tIns="0" rIns="0" bIns="0" rtlCol="0" anchor="ctr"/>
          <a:lstStyle/>
          <a:p>
            <a:pPr indent="0" marL="0">
              <a:buNone/>
            </a:pPr>
            <a:r>
              <a:rPr lang="en-US" sz="1000" dirty="0">
                <a:solidFill>
                  <a:srgbClr val="4B5A4F"/>
                </a:solidFill>
                <a:latin typeface="Calibri" pitchFamily="34" charset="0"/>
                <a:ea typeface="Calibri" pitchFamily="34" charset="-122"/>
                <a:cs typeface="Calibri" pitchFamily="34" charset="-120"/>
              </a:rPr>
              <a:t>Ask EcoMind about a sustainability topic…</a:t>
            </a:r>
            <a:endParaRPr lang="en-US" sz="1000" dirty="0"/>
          </a:p>
        </p:txBody>
      </p:sp>
      <p:sp>
        <p:nvSpPr>
          <p:cNvPr id="13" name="Shape 11"/>
          <p:cNvSpPr/>
          <p:nvPr/>
        </p:nvSpPr>
        <p:spPr>
          <a:xfrm>
            <a:off x="6720840" y="1783080"/>
            <a:ext cx="4800600" cy="4434840"/>
          </a:xfrm>
          <a:prstGeom prst="roundRect">
            <a:avLst>
              <a:gd name="adj" fmla="val 2062"/>
            </a:avLst>
          </a:prstGeom>
          <a:solidFill>
            <a:srgbClr val="F8F9F5"/>
          </a:solidFill>
          <a:ln w="12700">
            <a:solidFill>
              <a:srgbClr val="CBD0C1"/>
            </a:solidFill>
            <a:prstDash val="solid"/>
          </a:ln>
        </p:spPr>
      </p:sp>
      <p:sp>
        <p:nvSpPr>
          <p:cNvPr id="14" name="Text 12"/>
          <p:cNvSpPr txBox="1"/>
          <p:nvPr/>
        </p:nvSpPr>
        <p:spPr>
          <a:xfrm>
            <a:off x="6995160" y="1965960"/>
            <a:ext cx="4297680" cy="365760"/>
          </a:xfrm>
          <a:prstGeom prst="rect">
            <a:avLst/>
          </a:prstGeom>
          <a:noFill/>
          <a:ln/>
        </p:spPr>
        <p:txBody>
          <a:bodyPr wrap="square" lIns="0" tIns="0" rIns="0" bIns="0" rtlCol="0" anchor="ctr"/>
          <a:lstStyle/>
          <a:p>
            <a:pPr indent="0" marL="0">
              <a:buNone/>
            </a:pPr>
            <a:r>
              <a:rPr lang="en-US" sz="1200" b="1" dirty="0">
                <a:solidFill>
                  <a:srgbClr val="1F4A40"/>
                </a:solidFill>
                <a:latin typeface="Calibri" pitchFamily="34" charset="0"/>
                <a:ea typeface="Calibri" pitchFamily="34" charset="-122"/>
                <a:cs typeface="Calibri" pitchFamily="34" charset="-120"/>
              </a:rPr>
              <a:t>Footprint Estimator</a:t>
            </a:r>
            <a:endParaRPr lang="en-US" sz="1200" dirty="0"/>
          </a:p>
        </p:txBody>
      </p:sp>
      <p:sp>
        <p:nvSpPr>
          <p:cNvPr id="15" name="Text 13"/>
          <p:cNvSpPr txBox="1"/>
          <p:nvPr/>
        </p:nvSpPr>
        <p:spPr>
          <a:xfrm>
            <a:off x="6995160" y="2377440"/>
            <a:ext cx="4297680" cy="548640"/>
          </a:xfrm>
          <a:prstGeom prst="rect">
            <a:avLst/>
          </a:prstGeom>
          <a:noFill/>
          <a:ln/>
        </p:spPr>
        <p:txBody>
          <a:bodyPr wrap="square" lIns="0" tIns="0" rIns="0" bIns="0" rtlCol="0" anchor="ctr"/>
          <a:lstStyle/>
          <a:p>
            <a:pPr indent="0" marL="0">
              <a:buNone/>
            </a:pPr>
            <a:r>
              <a:rPr lang="en-US" sz="2600" b="1" dirty="0">
                <a:solidFill>
                  <a:srgbClr val="1F4A40"/>
                </a:solidFill>
                <a:latin typeface="Georgia" pitchFamily="34" charset="0"/>
                <a:ea typeface="Georgia" pitchFamily="34" charset="-122"/>
                <a:cs typeface="Georgia" pitchFamily="34" charset="-120"/>
              </a:rPr>
              <a:t>5.21 t CO2e / year</a:t>
            </a:r>
            <a:endParaRPr lang="en-US" sz="2600" dirty="0"/>
          </a:p>
        </p:txBody>
      </p:sp>
      <p:sp>
        <p:nvSpPr>
          <p:cNvPr id="16" name="Text 14"/>
          <p:cNvSpPr txBox="1"/>
          <p:nvPr/>
        </p:nvSpPr>
        <p:spPr>
          <a:xfrm>
            <a:off x="6995160" y="2926080"/>
            <a:ext cx="4297680" cy="320040"/>
          </a:xfrm>
          <a:prstGeom prst="rect">
            <a:avLst/>
          </a:prstGeom>
          <a:noFill/>
          <a:ln/>
        </p:spPr>
        <p:txBody>
          <a:bodyPr wrap="square" lIns="0" tIns="0" rIns="0" bIns="0" rtlCol="0" anchor="ctr"/>
          <a:lstStyle/>
          <a:p>
            <a:pPr indent="0" marL="0">
              <a:buNone/>
            </a:pPr>
            <a:r>
              <a:rPr lang="en-US" sz="1050" dirty="0">
                <a:solidFill>
                  <a:srgbClr val="4B5A4F"/>
                </a:solidFill>
                <a:latin typeface="Calibri" pitchFamily="34" charset="0"/>
                <a:ea typeface="Calibri" pitchFamily="34" charset="-122"/>
                <a:cs typeface="Calibri" pitchFamily="34" charset="-120"/>
              </a:rPr>
              <a:t>11% above the ~4.7t global average</a:t>
            </a:r>
            <a:endParaRPr lang="en-US" sz="1050" dirty="0"/>
          </a:p>
        </p:txBody>
      </p:sp>
      <p:sp>
        <p:nvSpPr>
          <p:cNvPr id="17" name="Text 15"/>
          <p:cNvSpPr txBox="1"/>
          <p:nvPr/>
        </p:nvSpPr>
        <p:spPr>
          <a:xfrm>
            <a:off x="6995160" y="3429000"/>
            <a:ext cx="2103120" cy="228600"/>
          </a:xfrm>
          <a:prstGeom prst="rect">
            <a:avLst/>
          </a:prstGeom>
          <a:noFill/>
          <a:ln/>
        </p:spPr>
        <p:txBody>
          <a:bodyPr wrap="square" lIns="0" tIns="0" rIns="0" bIns="0" rtlCol="0" anchor="ctr"/>
          <a:lstStyle/>
          <a:p>
            <a:pPr indent="0" marL="0">
              <a:buNone/>
            </a:pPr>
            <a:r>
              <a:rPr lang="en-US" sz="950" dirty="0">
                <a:solidFill>
                  <a:srgbClr val="192B20"/>
                </a:solidFill>
                <a:latin typeface="Calibri" pitchFamily="34" charset="0"/>
                <a:ea typeface="Calibri" pitchFamily="34" charset="-122"/>
                <a:cs typeface="Calibri" pitchFamily="34" charset="-120"/>
              </a:rPr>
              <a:t>Transport</a:t>
            </a:r>
            <a:endParaRPr lang="en-US" sz="950" dirty="0"/>
          </a:p>
        </p:txBody>
      </p:sp>
      <p:sp>
        <p:nvSpPr>
          <p:cNvPr id="18" name="Text 16"/>
          <p:cNvSpPr txBox="1"/>
          <p:nvPr/>
        </p:nvSpPr>
        <p:spPr>
          <a:xfrm>
            <a:off x="9418320" y="3429000"/>
            <a:ext cx="1874520" cy="228600"/>
          </a:xfrm>
          <a:prstGeom prst="rect">
            <a:avLst/>
          </a:prstGeom>
          <a:noFill/>
          <a:ln/>
        </p:spPr>
        <p:txBody>
          <a:bodyPr wrap="square" lIns="0" tIns="0" rIns="0" bIns="0" rtlCol="0" anchor="ctr"/>
          <a:lstStyle/>
          <a:p>
            <a:pPr algn="r" indent="0" marL="0">
              <a:buNone/>
            </a:pPr>
            <a:r>
              <a:rPr lang="en-US" sz="950" dirty="0">
                <a:solidFill>
                  <a:srgbClr val="4B5A4F"/>
                </a:solidFill>
                <a:latin typeface="Calibri" pitchFamily="34" charset="0"/>
                <a:ea typeface="Calibri" pitchFamily="34" charset="-122"/>
                <a:cs typeface="Calibri" pitchFamily="34" charset="-120"/>
              </a:rPr>
              <a:t>1.20 t</a:t>
            </a:r>
            <a:endParaRPr lang="en-US" sz="950" dirty="0"/>
          </a:p>
        </p:txBody>
      </p:sp>
      <p:sp>
        <p:nvSpPr>
          <p:cNvPr id="19" name="Shape 17"/>
          <p:cNvSpPr/>
          <p:nvPr/>
        </p:nvSpPr>
        <p:spPr>
          <a:xfrm>
            <a:off x="6995160" y="3666744"/>
            <a:ext cx="4297680" cy="100584"/>
          </a:xfrm>
          <a:prstGeom prst="roundRect">
            <a:avLst>
              <a:gd name="adj" fmla="val 18182"/>
            </a:avLst>
          </a:prstGeom>
          <a:solidFill>
            <a:srgbClr val="FFFFFF"/>
          </a:solidFill>
          <a:ln w="9525">
            <a:solidFill>
              <a:srgbClr val="CBD0C1"/>
            </a:solidFill>
            <a:prstDash val="solid"/>
          </a:ln>
        </p:spPr>
      </p:sp>
      <p:sp>
        <p:nvSpPr>
          <p:cNvPr id="20" name="Shape 18"/>
          <p:cNvSpPr/>
          <p:nvPr/>
        </p:nvSpPr>
        <p:spPr>
          <a:xfrm>
            <a:off x="6995160" y="3666744"/>
            <a:ext cx="2363724" cy="100584"/>
          </a:xfrm>
          <a:prstGeom prst="roundRect">
            <a:avLst>
              <a:gd name="adj" fmla="val 18182"/>
            </a:avLst>
          </a:prstGeom>
          <a:solidFill>
            <a:srgbClr val="2F6B5E"/>
          </a:solidFill>
          <a:ln/>
        </p:spPr>
      </p:sp>
      <p:sp>
        <p:nvSpPr>
          <p:cNvPr id="21" name="Text 19"/>
          <p:cNvSpPr txBox="1"/>
          <p:nvPr/>
        </p:nvSpPr>
        <p:spPr>
          <a:xfrm>
            <a:off x="6995160" y="3931920"/>
            <a:ext cx="2103120" cy="228600"/>
          </a:xfrm>
          <a:prstGeom prst="rect">
            <a:avLst/>
          </a:prstGeom>
          <a:noFill/>
          <a:ln/>
        </p:spPr>
        <p:txBody>
          <a:bodyPr wrap="square" lIns="0" tIns="0" rIns="0" bIns="0" rtlCol="0" anchor="ctr"/>
          <a:lstStyle/>
          <a:p>
            <a:pPr indent="0" marL="0">
              <a:buNone/>
            </a:pPr>
            <a:r>
              <a:rPr lang="en-US" sz="950" dirty="0">
                <a:solidFill>
                  <a:srgbClr val="192B20"/>
                </a:solidFill>
                <a:latin typeface="Calibri" pitchFamily="34" charset="0"/>
                <a:ea typeface="Calibri" pitchFamily="34" charset="-122"/>
                <a:cs typeface="Calibri" pitchFamily="34" charset="-120"/>
              </a:rPr>
              <a:t>Home energy</a:t>
            </a:r>
            <a:endParaRPr lang="en-US" sz="950" dirty="0"/>
          </a:p>
        </p:txBody>
      </p:sp>
      <p:sp>
        <p:nvSpPr>
          <p:cNvPr id="22" name="Text 20"/>
          <p:cNvSpPr txBox="1"/>
          <p:nvPr/>
        </p:nvSpPr>
        <p:spPr>
          <a:xfrm>
            <a:off x="9418320" y="3931920"/>
            <a:ext cx="1874520" cy="228600"/>
          </a:xfrm>
          <a:prstGeom prst="rect">
            <a:avLst/>
          </a:prstGeom>
          <a:noFill/>
          <a:ln/>
        </p:spPr>
        <p:txBody>
          <a:bodyPr wrap="square" lIns="0" tIns="0" rIns="0" bIns="0" rtlCol="0" anchor="ctr"/>
          <a:lstStyle/>
          <a:p>
            <a:pPr algn="r" indent="0" marL="0">
              <a:buNone/>
            </a:pPr>
            <a:r>
              <a:rPr lang="en-US" sz="950" dirty="0">
                <a:solidFill>
                  <a:srgbClr val="4B5A4F"/>
                </a:solidFill>
                <a:latin typeface="Calibri" pitchFamily="34" charset="0"/>
                <a:ea typeface="Calibri" pitchFamily="34" charset="-122"/>
                <a:cs typeface="Calibri" pitchFamily="34" charset="-120"/>
              </a:rPr>
              <a:t>1.43 t</a:t>
            </a:r>
            <a:endParaRPr lang="en-US" sz="950" dirty="0"/>
          </a:p>
        </p:txBody>
      </p:sp>
      <p:sp>
        <p:nvSpPr>
          <p:cNvPr id="23" name="Shape 21"/>
          <p:cNvSpPr/>
          <p:nvPr/>
        </p:nvSpPr>
        <p:spPr>
          <a:xfrm>
            <a:off x="6995160" y="4169664"/>
            <a:ext cx="4297680" cy="100584"/>
          </a:xfrm>
          <a:prstGeom prst="roundRect">
            <a:avLst>
              <a:gd name="adj" fmla="val 18182"/>
            </a:avLst>
          </a:prstGeom>
          <a:solidFill>
            <a:srgbClr val="FFFFFF"/>
          </a:solidFill>
          <a:ln w="9525">
            <a:solidFill>
              <a:srgbClr val="CBD0C1"/>
            </a:solidFill>
            <a:prstDash val="solid"/>
          </a:ln>
        </p:spPr>
      </p:sp>
      <p:sp>
        <p:nvSpPr>
          <p:cNvPr id="24" name="Shape 22"/>
          <p:cNvSpPr/>
          <p:nvPr/>
        </p:nvSpPr>
        <p:spPr>
          <a:xfrm>
            <a:off x="6995160" y="4169664"/>
            <a:ext cx="2793492" cy="100584"/>
          </a:xfrm>
          <a:prstGeom prst="roundRect">
            <a:avLst>
              <a:gd name="adj" fmla="val 18182"/>
            </a:avLst>
          </a:prstGeom>
          <a:solidFill>
            <a:srgbClr val="2F6B5E"/>
          </a:solidFill>
          <a:ln/>
        </p:spPr>
      </p:sp>
      <p:sp>
        <p:nvSpPr>
          <p:cNvPr id="25" name="Text 23"/>
          <p:cNvSpPr txBox="1"/>
          <p:nvPr/>
        </p:nvSpPr>
        <p:spPr>
          <a:xfrm>
            <a:off x="6995160" y="4434840"/>
            <a:ext cx="2103120" cy="228600"/>
          </a:xfrm>
          <a:prstGeom prst="rect">
            <a:avLst/>
          </a:prstGeom>
          <a:noFill/>
          <a:ln/>
        </p:spPr>
        <p:txBody>
          <a:bodyPr wrap="square" lIns="0" tIns="0" rIns="0" bIns="0" rtlCol="0" anchor="ctr"/>
          <a:lstStyle/>
          <a:p>
            <a:pPr indent="0" marL="0">
              <a:buNone/>
            </a:pPr>
            <a:r>
              <a:rPr lang="en-US" sz="950" dirty="0">
                <a:solidFill>
                  <a:srgbClr val="192B20"/>
                </a:solidFill>
                <a:latin typeface="Calibri" pitchFamily="34" charset="0"/>
                <a:ea typeface="Calibri" pitchFamily="34" charset="-122"/>
                <a:cs typeface="Calibri" pitchFamily="34" charset="-120"/>
              </a:rPr>
              <a:t>Food &amp; diet</a:t>
            </a:r>
            <a:endParaRPr lang="en-US" sz="950" dirty="0"/>
          </a:p>
        </p:txBody>
      </p:sp>
      <p:sp>
        <p:nvSpPr>
          <p:cNvPr id="26" name="Text 24"/>
          <p:cNvSpPr txBox="1"/>
          <p:nvPr/>
        </p:nvSpPr>
        <p:spPr>
          <a:xfrm>
            <a:off x="9418320" y="4434840"/>
            <a:ext cx="1874520" cy="228600"/>
          </a:xfrm>
          <a:prstGeom prst="rect">
            <a:avLst/>
          </a:prstGeom>
          <a:noFill/>
          <a:ln/>
        </p:spPr>
        <p:txBody>
          <a:bodyPr wrap="square" lIns="0" tIns="0" rIns="0" bIns="0" rtlCol="0" anchor="ctr"/>
          <a:lstStyle/>
          <a:p>
            <a:pPr algn="r" indent="0" marL="0">
              <a:buNone/>
            </a:pPr>
            <a:r>
              <a:rPr lang="en-US" sz="950" dirty="0">
                <a:solidFill>
                  <a:srgbClr val="4B5A4F"/>
                </a:solidFill>
                <a:latin typeface="Calibri" pitchFamily="34" charset="0"/>
                <a:ea typeface="Calibri" pitchFamily="34" charset="-122"/>
                <a:cs typeface="Calibri" pitchFamily="34" charset="-120"/>
              </a:rPr>
              <a:t>2.50 t</a:t>
            </a:r>
            <a:endParaRPr lang="en-US" sz="950" dirty="0"/>
          </a:p>
        </p:txBody>
      </p:sp>
      <p:sp>
        <p:nvSpPr>
          <p:cNvPr id="27" name="Shape 25"/>
          <p:cNvSpPr/>
          <p:nvPr/>
        </p:nvSpPr>
        <p:spPr>
          <a:xfrm>
            <a:off x="6995160" y="4672584"/>
            <a:ext cx="4297680" cy="100584"/>
          </a:xfrm>
          <a:prstGeom prst="roundRect">
            <a:avLst>
              <a:gd name="adj" fmla="val 18182"/>
            </a:avLst>
          </a:prstGeom>
          <a:solidFill>
            <a:srgbClr val="FFFFFF"/>
          </a:solidFill>
          <a:ln w="9525">
            <a:solidFill>
              <a:srgbClr val="CBD0C1"/>
            </a:solidFill>
            <a:prstDash val="solid"/>
          </a:ln>
        </p:spPr>
      </p:sp>
      <p:sp>
        <p:nvSpPr>
          <p:cNvPr id="28" name="Shape 26"/>
          <p:cNvSpPr/>
          <p:nvPr/>
        </p:nvSpPr>
        <p:spPr>
          <a:xfrm>
            <a:off x="6995160" y="4672584"/>
            <a:ext cx="4297680" cy="100584"/>
          </a:xfrm>
          <a:prstGeom prst="roundRect">
            <a:avLst>
              <a:gd name="adj" fmla="val 18182"/>
            </a:avLst>
          </a:prstGeom>
          <a:solidFill>
            <a:srgbClr val="2F6B5E"/>
          </a:solidFill>
          <a:ln/>
        </p:spPr>
      </p:sp>
      <p:sp>
        <p:nvSpPr>
          <p:cNvPr id="29" name="Text 27"/>
          <p:cNvSpPr txBox="1"/>
          <p:nvPr/>
        </p:nvSpPr>
        <p:spPr>
          <a:xfrm>
            <a:off x="6995160" y="4937760"/>
            <a:ext cx="2103120" cy="228600"/>
          </a:xfrm>
          <a:prstGeom prst="rect">
            <a:avLst/>
          </a:prstGeom>
          <a:noFill/>
          <a:ln/>
        </p:spPr>
        <p:txBody>
          <a:bodyPr wrap="square" lIns="0" tIns="0" rIns="0" bIns="0" rtlCol="0" anchor="ctr"/>
          <a:lstStyle/>
          <a:p>
            <a:pPr indent="0" marL="0">
              <a:buNone/>
            </a:pPr>
            <a:r>
              <a:rPr lang="en-US" sz="950" dirty="0">
                <a:solidFill>
                  <a:srgbClr val="192B20"/>
                </a:solidFill>
                <a:latin typeface="Calibri" pitchFamily="34" charset="0"/>
                <a:ea typeface="Calibri" pitchFamily="34" charset="-122"/>
                <a:cs typeface="Calibri" pitchFamily="34" charset="-120"/>
              </a:rPr>
              <a:t>Flights</a:t>
            </a:r>
            <a:endParaRPr lang="en-US" sz="950" dirty="0"/>
          </a:p>
        </p:txBody>
      </p:sp>
      <p:sp>
        <p:nvSpPr>
          <p:cNvPr id="30" name="Text 28"/>
          <p:cNvSpPr txBox="1"/>
          <p:nvPr/>
        </p:nvSpPr>
        <p:spPr>
          <a:xfrm>
            <a:off x="9418320" y="4937760"/>
            <a:ext cx="1874520" cy="228600"/>
          </a:xfrm>
          <a:prstGeom prst="rect">
            <a:avLst/>
          </a:prstGeom>
          <a:noFill/>
          <a:ln/>
        </p:spPr>
        <p:txBody>
          <a:bodyPr wrap="square" lIns="0" tIns="0" rIns="0" bIns="0" rtlCol="0" anchor="ctr"/>
          <a:lstStyle/>
          <a:p>
            <a:pPr algn="r" indent="0" marL="0">
              <a:buNone/>
            </a:pPr>
            <a:r>
              <a:rPr lang="en-US" sz="950" dirty="0">
                <a:solidFill>
                  <a:srgbClr val="4B5A4F"/>
                </a:solidFill>
                <a:latin typeface="Calibri" pitchFamily="34" charset="0"/>
                <a:ea typeface="Calibri" pitchFamily="34" charset="-122"/>
                <a:cs typeface="Calibri" pitchFamily="34" charset="-120"/>
              </a:rPr>
              <a:t>0.09 t</a:t>
            </a:r>
            <a:endParaRPr lang="en-US" sz="950" dirty="0"/>
          </a:p>
        </p:txBody>
      </p:sp>
      <p:sp>
        <p:nvSpPr>
          <p:cNvPr id="31" name="Shape 29"/>
          <p:cNvSpPr/>
          <p:nvPr/>
        </p:nvSpPr>
        <p:spPr>
          <a:xfrm>
            <a:off x="6995160" y="5175504"/>
            <a:ext cx="4297680" cy="100584"/>
          </a:xfrm>
          <a:prstGeom prst="roundRect">
            <a:avLst>
              <a:gd name="adj" fmla="val 18182"/>
            </a:avLst>
          </a:prstGeom>
          <a:solidFill>
            <a:srgbClr val="FFFFFF"/>
          </a:solidFill>
          <a:ln w="9525">
            <a:solidFill>
              <a:srgbClr val="CBD0C1"/>
            </a:solidFill>
            <a:prstDash val="solid"/>
          </a:ln>
        </p:spPr>
      </p:sp>
      <p:sp>
        <p:nvSpPr>
          <p:cNvPr id="32" name="Shape 30"/>
          <p:cNvSpPr/>
          <p:nvPr/>
        </p:nvSpPr>
        <p:spPr>
          <a:xfrm>
            <a:off x="6995160" y="5175504"/>
            <a:ext cx="343814" cy="100584"/>
          </a:xfrm>
          <a:prstGeom prst="roundRect">
            <a:avLst>
              <a:gd name="adj" fmla="val 18182"/>
            </a:avLst>
          </a:prstGeom>
          <a:solidFill>
            <a:srgbClr val="2F6B5E"/>
          </a:solidFill>
          <a:ln/>
        </p:spPr>
      </p:sp>
      <p:sp>
        <p:nvSpPr>
          <p:cNvPr id="33" name="Shape 31"/>
          <p:cNvSpPr/>
          <p:nvPr/>
        </p:nvSpPr>
        <p:spPr>
          <a:xfrm>
            <a:off x="6995160" y="5532120"/>
            <a:ext cx="4251960" cy="548640"/>
          </a:xfrm>
          <a:prstGeom prst="roundRect">
            <a:avLst>
              <a:gd name="adj" fmla="val 10000"/>
            </a:avLst>
          </a:prstGeom>
          <a:solidFill>
            <a:srgbClr val="EFDCC0"/>
          </a:solidFill>
          <a:ln/>
        </p:spPr>
      </p:sp>
      <p:sp>
        <p:nvSpPr>
          <p:cNvPr id="34" name="Text 32"/>
          <p:cNvSpPr txBox="1"/>
          <p:nvPr/>
        </p:nvSpPr>
        <p:spPr>
          <a:xfrm>
            <a:off x="7132320" y="5532120"/>
            <a:ext cx="3977640" cy="548640"/>
          </a:xfrm>
          <a:prstGeom prst="rect">
            <a:avLst/>
          </a:prstGeom>
          <a:noFill/>
          <a:ln/>
        </p:spPr>
        <p:txBody>
          <a:bodyPr wrap="square" lIns="0" tIns="0" rIns="0" bIns="0" rtlCol="0" anchor="ctr"/>
          <a:lstStyle/>
          <a:p>
            <a:pPr indent="0" marL="0">
              <a:lnSpc>
                <a:spcPct val="115000"/>
              </a:lnSpc>
              <a:buNone/>
            </a:pPr>
            <a:r>
              <a:rPr lang="en-US" sz="900" dirty="0">
                <a:solidFill>
                  <a:srgbClr val="5C3A10"/>
                </a:solidFill>
                <a:latin typeface="Calibri" pitchFamily="34" charset="0"/>
                <a:ea typeface="Calibri" pitchFamily="34" charset="-122"/>
                <a:cs typeface="Calibri" pitchFamily="34" charset="-120"/>
              </a:rPr>
              <a:t>AI insight: biggest category is food — shift a few meals toward plant-based proteins.</a:t>
            </a:r>
            <a:endParaRPr lang="en-US" sz="900" dirty="0"/>
          </a:p>
        </p:txBody>
      </p:sp>
      <p:sp>
        <p:nvSpPr>
          <p:cNvPr id="35" name="Text 33"/>
          <p:cNvSpPr txBox="1"/>
          <p:nvPr/>
        </p:nvSpPr>
        <p:spPr>
          <a:xfrm>
            <a:off x="11548872" y="6400800"/>
            <a:ext cx="457200" cy="274320"/>
          </a:xfrm>
          <a:prstGeom prst="rect">
            <a:avLst/>
          </a:prstGeom>
          <a:noFill/>
          <a:ln/>
        </p:spPr>
        <p:txBody>
          <a:bodyPr wrap="square" lIns="0" tIns="0" rIns="0" bIns="0" rtlCol="0" anchor="ctr"/>
          <a:lstStyle/>
          <a:p>
            <a:pPr algn="r" indent="0" marL="0">
              <a:buNone/>
            </a:pPr>
            <a:r>
              <a:rPr lang="en-US" sz="900" dirty="0">
                <a:solidFill>
                  <a:srgbClr val="4B5A4F"/>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5"/>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50" b="1" dirty="0">
                <a:solidFill>
                  <a:srgbClr val="2F6B5E"/>
                </a:solidFill>
                <a:latin typeface="Calibri" pitchFamily="34" charset="0"/>
                <a:ea typeface="Calibri" pitchFamily="34" charset="-122"/>
                <a:cs typeface="Calibri" pitchFamily="34" charset="-120"/>
              </a:rPr>
              <a:t>EXPECTED IMPACT</a:t>
            </a:r>
            <a:endParaRPr lang="en-US" sz="1250" dirty="0"/>
          </a:p>
        </p:txBody>
      </p:sp>
      <p:sp>
        <p:nvSpPr>
          <p:cNvPr id="3" name="Text 1"/>
          <p:cNvSpPr txBox="1"/>
          <p:nvPr/>
        </p:nvSpPr>
        <p:spPr>
          <a:xfrm>
            <a:off x="640080" y="868680"/>
            <a:ext cx="10698480" cy="777240"/>
          </a:xfrm>
          <a:prstGeom prst="rect">
            <a:avLst/>
          </a:prstGeom>
          <a:noFill/>
          <a:ln/>
        </p:spPr>
        <p:txBody>
          <a:bodyPr wrap="square" lIns="0" tIns="0" rIns="0" bIns="0" rtlCol="0" anchor="ctr"/>
          <a:lstStyle/>
          <a:p>
            <a:pPr indent="0" marL="0">
              <a:buNone/>
            </a:pPr>
            <a:r>
              <a:rPr lang="en-US" sz="2700" b="1" dirty="0">
                <a:solidFill>
                  <a:srgbClr val="192B20"/>
                </a:solidFill>
                <a:latin typeface="Georgia" pitchFamily="34" charset="0"/>
                <a:ea typeface="Georgia" pitchFamily="34" charset="-122"/>
                <a:cs typeface="Georgia" pitchFamily="34" charset="-120"/>
              </a:rPr>
              <a:t>If adopted, effort moves toward what actually matters</a:t>
            </a:r>
            <a:endParaRPr lang="en-US" sz="2700" dirty="0"/>
          </a:p>
        </p:txBody>
      </p:sp>
      <p:sp>
        <p:nvSpPr>
          <p:cNvPr id="4" name="Shape 2"/>
          <p:cNvSpPr/>
          <p:nvPr/>
        </p:nvSpPr>
        <p:spPr>
          <a:xfrm>
            <a:off x="640080" y="1965960"/>
            <a:ext cx="10881360" cy="1097280"/>
          </a:xfrm>
          <a:prstGeom prst="roundRect">
            <a:avLst>
              <a:gd name="adj" fmla="val 6667"/>
            </a:avLst>
          </a:prstGeom>
          <a:solidFill>
            <a:srgbClr val="F8F9F5"/>
          </a:solidFill>
          <a:ln w="12700">
            <a:solidFill>
              <a:srgbClr val="CBD0C1"/>
            </a:solidFill>
            <a:prstDash val="solid"/>
          </a:ln>
        </p:spPr>
      </p:sp>
      <p:sp>
        <p:nvSpPr>
          <p:cNvPr id="5" name="Text 3"/>
          <p:cNvSpPr txBox="1"/>
          <p:nvPr/>
        </p:nvSpPr>
        <p:spPr>
          <a:xfrm>
            <a:off x="914400" y="2130552"/>
            <a:ext cx="3291840" cy="777240"/>
          </a:xfrm>
          <a:prstGeom prst="rect">
            <a:avLst/>
          </a:prstGeom>
          <a:noFill/>
          <a:ln/>
        </p:spPr>
        <p:txBody>
          <a:bodyPr wrap="square" lIns="0" tIns="0" rIns="0" bIns="0" rtlCol="0" anchor="ctr"/>
          <a:lstStyle/>
          <a:p>
            <a:pPr indent="0" marL="0">
              <a:lnSpc>
                <a:spcPct val="120000"/>
              </a:lnSpc>
              <a:buNone/>
            </a:pPr>
            <a:r>
              <a:rPr lang="en-US" sz="1450" b="1" dirty="0">
                <a:solidFill>
                  <a:srgbClr val="1F4A40"/>
                </a:solidFill>
                <a:latin typeface="Calibri" pitchFamily="34" charset="0"/>
                <a:ea typeface="Calibri" pitchFamily="34" charset="-122"/>
                <a:cs typeface="Calibri" pitchFamily="34" charset="-120"/>
              </a:rPr>
              <a:t>Sourced advice, not vibes</a:t>
            </a:r>
            <a:endParaRPr lang="en-US" sz="1450" dirty="0"/>
          </a:p>
        </p:txBody>
      </p:sp>
      <p:sp>
        <p:nvSpPr>
          <p:cNvPr id="6" name="Text 4"/>
          <p:cNvSpPr txBox="1"/>
          <p:nvPr/>
        </p:nvSpPr>
        <p:spPr>
          <a:xfrm>
            <a:off x="4389120" y="2130552"/>
            <a:ext cx="6858000" cy="777240"/>
          </a:xfrm>
          <a:prstGeom prst="rect">
            <a:avLst/>
          </a:prstGeom>
          <a:noFill/>
          <a:ln/>
        </p:spPr>
        <p:txBody>
          <a:bodyPr wrap="square" lIns="0" tIns="0" rIns="0" bIns="0" rtlCol="0" anchor="ctr"/>
          <a:lstStyle/>
          <a:p>
            <a:pPr indent="0" marL="0">
              <a:lnSpc>
                <a:spcPct val="125000"/>
              </a:lnSpc>
              <a:buNone/>
            </a:pPr>
            <a:r>
              <a:rPr lang="en-US" sz="1250" dirty="0">
                <a:solidFill>
                  <a:srgbClr val="4B5A4F"/>
                </a:solidFill>
                <a:latin typeface="Calibri" pitchFamily="34" charset="0"/>
                <a:ea typeface="Calibri" pitchFamily="34" charset="-122"/>
                <a:cs typeface="Calibri" pitchFamily="34" charset="-120"/>
              </a:rPr>
              <a:t>Every answer is traceable to a specific knowledge-base topic, so users can trust and verify it instead of guessing.</a:t>
            </a:r>
            <a:endParaRPr lang="en-US" sz="1250" dirty="0"/>
          </a:p>
        </p:txBody>
      </p:sp>
      <p:sp>
        <p:nvSpPr>
          <p:cNvPr id="7" name="Shape 5"/>
          <p:cNvSpPr/>
          <p:nvPr/>
        </p:nvSpPr>
        <p:spPr>
          <a:xfrm>
            <a:off x="640080" y="3291840"/>
            <a:ext cx="10881360" cy="1097280"/>
          </a:xfrm>
          <a:prstGeom prst="roundRect">
            <a:avLst>
              <a:gd name="adj" fmla="val 6667"/>
            </a:avLst>
          </a:prstGeom>
          <a:solidFill>
            <a:srgbClr val="F8F9F5"/>
          </a:solidFill>
          <a:ln w="12700">
            <a:solidFill>
              <a:srgbClr val="CBD0C1"/>
            </a:solidFill>
            <a:prstDash val="solid"/>
          </a:ln>
        </p:spPr>
      </p:sp>
      <p:sp>
        <p:nvSpPr>
          <p:cNvPr id="8" name="Text 6"/>
          <p:cNvSpPr txBox="1"/>
          <p:nvPr/>
        </p:nvSpPr>
        <p:spPr>
          <a:xfrm>
            <a:off x="914400" y="3456432"/>
            <a:ext cx="3291840" cy="777240"/>
          </a:xfrm>
          <a:prstGeom prst="rect">
            <a:avLst/>
          </a:prstGeom>
          <a:noFill/>
          <a:ln/>
        </p:spPr>
        <p:txBody>
          <a:bodyPr wrap="square" lIns="0" tIns="0" rIns="0" bIns="0" rtlCol="0" anchor="ctr"/>
          <a:lstStyle/>
          <a:p>
            <a:pPr indent="0" marL="0">
              <a:lnSpc>
                <a:spcPct val="120000"/>
              </a:lnSpc>
              <a:buNone/>
            </a:pPr>
            <a:r>
              <a:rPr lang="en-US" sz="1450" b="1" dirty="0">
                <a:solidFill>
                  <a:srgbClr val="1F4A40"/>
                </a:solidFill>
                <a:latin typeface="Calibri" pitchFamily="34" charset="0"/>
                <a:ea typeface="Calibri" pitchFamily="34" charset="-122"/>
                <a:cs typeface="Calibri" pitchFamily="34" charset="-120"/>
              </a:rPr>
              <a:t>Effort where it counts</a:t>
            </a:r>
            <a:endParaRPr lang="en-US" sz="1450" dirty="0"/>
          </a:p>
        </p:txBody>
      </p:sp>
      <p:sp>
        <p:nvSpPr>
          <p:cNvPr id="9" name="Text 7"/>
          <p:cNvSpPr txBox="1"/>
          <p:nvPr/>
        </p:nvSpPr>
        <p:spPr>
          <a:xfrm>
            <a:off x="4389120" y="3456432"/>
            <a:ext cx="6858000" cy="777240"/>
          </a:xfrm>
          <a:prstGeom prst="rect">
            <a:avLst/>
          </a:prstGeom>
          <a:noFill/>
          <a:ln/>
        </p:spPr>
        <p:txBody>
          <a:bodyPr wrap="square" lIns="0" tIns="0" rIns="0" bIns="0" rtlCol="0" anchor="ctr"/>
          <a:lstStyle/>
          <a:p>
            <a:pPr indent="0" marL="0">
              <a:lnSpc>
                <a:spcPct val="125000"/>
              </a:lnSpc>
              <a:buNone/>
            </a:pPr>
            <a:r>
              <a:rPr lang="en-US" sz="1250" dirty="0">
                <a:solidFill>
                  <a:srgbClr val="4B5A4F"/>
                </a:solidFill>
                <a:latin typeface="Calibri" pitchFamily="34" charset="0"/>
                <a:ea typeface="Calibri" pitchFamily="34" charset="-122"/>
                <a:cs typeface="Calibri" pitchFamily="34" charset="-120"/>
              </a:rPr>
              <a:t>The footprint estimator points users at their single largest emissions category instead of scattering effort evenly.</a:t>
            </a:r>
            <a:endParaRPr lang="en-US" sz="1250" dirty="0"/>
          </a:p>
        </p:txBody>
      </p:sp>
      <p:sp>
        <p:nvSpPr>
          <p:cNvPr id="10" name="Shape 8"/>
          <p:cNvSpPr/>
          <p:nvPr/>
        </p:nvSpPr>
        <p:spPr>
          <a:xfrm>
            <a:off x="640080" y="4617720"/>
            <a:ext cx="10881360" cy="1097280"/>
          </a:xfrm>
          <a:prstGeom prst="roundRect">
            <a:avLst>
              <a:gd name="adj" fmla="val 6667"/>
            </a:avLst>
          </a:prstGeom>
          <a:solidFill>
            <a:srgbClr val="F8F9F5"/>
          </a:solidFill>
          <a:ln w="12700">
            <a:solidFill>
              <a:srgbClr val="CBD0C1"/>
            </a:solidFill>
            <a:prstDash val="solid"/>
          </a:ln>
        </p:spPr>
      </p:sp>
      <p:sp>
        <p:nvSpPr>
          <p:cNvPr id="11" name="Text 9"/>
          <p:cNvSpPr txBox="1"/>
          <p:nvPr/>
        </p:nvSpPr>
        <p:spPr>
          <a:xfrm>
            <a:off x="914400" y="4782312"/>
            <a:ext cx="3291840" cy="777240"/>
          </a:xfrm>
          <a:prstGeom prst="rect">
            <a:avLst/>
          </a:prstGeom>
          <a:noFill/>
          <a:ln/>
        </p:spPr>
        <p:txBody>
          <a:bodyPr wrap="square" lIns="0" tIns="0" rIns="0" bIns="0" rtlCol="0" anchor="ctr"/>
          <a:lstStyle/>
          <a:p>
            <a:pPr indent="0" marL="0">
              <a:lnSpc>
                <a:spcPct val="120000"/>
              </a:lnSpc>
              <a:buNone/>
            </a:pPr>
            <a:r>
              <a:rPr lang="en-US" sz="1450" b="1" dirty="0">
                <a:solidFill>
                  <a:srgbClr val="1F4A40"/>
                </a:solidFill>
                <a:latin typeface="Calibri" pitchFamily="34" charset="0"/>
                <a:ea typeface="Calibri" pitchFamily="34" charset="-122"/>
                <a:cs typeface="Calibri" pitchFamily="34" charset="-120"/>
              </a:rPr>
              <a:t>Zero-friction access</a:t>
            </a:r>
            <a:endParaRPr lang="en-US" sz="1450" dirty="0"/>
          </a:p>
        </p:txBody>
      </p:sp>
      <p:sp>
        <p:nvSpPr>
          <p:cNvPr id="12" name="Text 10"/>
          <p:cNvSpPr txBox="1"/>
          <p:nvPr/>
        </p:nvSpPr>
        <p:spPr>
          <a:xfrm>
            <a:off x="4389120" y="4782312"/>
            <a:ext cx="6858000" cy="777240"/>
          </a:xfrm>
          <a:prstGeom prst="rect">
            <a:avLst/>
          </a:prstGeom>
          <a:noFill/>
          <a:ln/>
        </p:spPr>
        <p:txBody>
          <a:bodyPr wrap="square" lIns="0" tIns="0" rIns="0" bIns="0" rtlCol="0" anchor="ctr"/>
          <a:lstStyle/>
          <a:p>
            <a:pPr indent="0" marL="0">
              <a:lnSpc>
                <a:spcPct val="125000"/>
              </a:lnSpc>
              <a:buNone/>
            </a:pPr>
            <a:r>
              <a:rPr lang="en-US" sz="1250" dirty="0">
                <a:solidFill>
                  <a:srgbClr val="4B5A4F"/>
                </a:solidFill>
                <a:latin typeface="Calibri" pitchFamily="34" charset="0"/>
                <a:ea typeface="Calibri" pitchFamily="34" charset="-122"/>
                <a:cs typeface="Calibri" pitchFamily="34" charset="-120"/>
              </a:rPr>
              <a:t>The browser demo needs no install and no server, so it works as a classroom or awareness-drive tool as-is.</a:t>
            </a:r>
            <a:endParaRPr lang="en-US" sz="1250" dirty="0"/>
          </a:p>
        </p:txBody>
      </p:sp>
      <p:sp>
        <p:nvSpPr>
          <p:cNvPr id="13" name="Text 11"/>
          <p:cNvSpPr txBox="1"/>
          <p:nvPr/>
        </p:nvSpPr>
        <p:spPr>
          <a:xfrm>
            <a:off x="640080" y="6172200"/>
            <a:ext cx="10881360" cy="365760"/>
          </a:xfrm>
          <a:prstGeom prst="rect">
            <a:avLst/>
          </a:prstGeom>
          <a:noFill/>
          <a:ln/>
        </p:spPr>
        <p:txBody>
          <a:bodyPr wrap="square" lIns="0" tIns="0" rIns="0" bIns="0" rtlCol="0" anchor="ctr"/>
          <a:lstStyle/>
          <a:p>
            <a:pPr indent="0" marL="0">
              <a:buNone/>
            </a:pPr>
            <a:r>
              <a:rPr lang="en-US" sz="1050" i="1" dirty="0">
                <a:solidFill>
                  <a:srgbClr val="4B5A4F"/>
                </a:solidFill>
                <a:latin typeface="Calibri" pitchFamily="34" charset="0"/>
                <a:ea typeface="Calibri" pitchFamily="34" charset="-122"/>
                <a:cs typeface="Calibri" pitchFamily="34" charset="-120"/>
              </a:rPr>
              <a:t>Limitation: footprint figures are simplified planning estimates from public average emission factors, not certified carbon accounting.</a:t>
            </a:r>
            <a:endParaRPr lang="en-US" sz="1050" dirty="0"/>
          </a:p>
        </p:txBody>
      </p:sp>
      <p:sp>
        <p:nvSpPr>
          <p:cNvPr id="14" name="Text 12"/>
          <p:cNvSpPr txBox="1"/>
          <p:nvPr/>
        </p:nvSpPr>
        <p:spPr>
          <a:xfrm>
            <a:off x="11548872" y="6400800"/>
            <a:ext cx="457200" cy="274320"/>
          </a:xfrm>
          <a:prstGeom prst="rect">
            <a:avLst/>
          </a:prstGeom>
          <a:noFill/>
          <a:ln/>
        </p:spPr>
        <p:txBody>
          <a:bodyPr wrap="square" lIns="0" tIns="0" rIns="0" bIns="0" rtlCol="0" anchor="ctr"/>
          <a:lstStyle/>
          <a:p>
            <a:pPr algn="r" indent="0" marL="0">
              <a:buNone/>
            </a:pPr>
            <a:r>
              <a:rPr lang="en-US" sz="900" dirty="0">
                <a:solidFill>
                  <a:srgbClr val="4B5A4F"/>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2026-09-20T17:17:42Z</dcterms:created>
  <dcterms:modified xsi:type="dcterms:W3CDTF">2026-09-20T17:17:42Z</dcterms:modified>
</cp:coreProperties>
</file>